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notesMaster" Target="notesMasters/notesMaster1.xml" /><Relationship Id="rId42" Type="http://schemas.openxmlformats.org/officeDocument/2006/relationships/viewProps" Target="viewProps.xml" /><Relationship Id="rId41" Type="http://schemas.openxmlformats.org/officeDocument/2006/relationships/presProps" Target="presProps.xml" /><Relationship Id="rId1" Type="http://schemas.openxmlformats.org/officeDocument/2006/relationships/slideMaster" Target="slideMasters/slideMaster1.xml" /><Relationship Id="rId44" Type="http://schemas.openxmlformats.org/officeDocument/2006/relationships/tableStyles" Target="tableStyles.xml" /><Relationship Id="rId4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치앙마이는 태국 북부의 경제와 문화적 허브입니다. 13세기 란나 왕조의 수도로 시작된 이 도시는 풍부한 역사적 유산과 더불어 현대적인 라이프스타일이 조화를 이루고 있어 전 세계 여행자들의 주목을 받고 있습니다. 특히 저렴한 물가와 쾌적한 인프라는 장기 체류자들에게 매우 매력적인 요소로 작용합니다.</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란나 왕국은 남부의 아유타야나 수코타이와는 차별화된 독특한 문화를 발전시켰습니다. 16세기 버마의 지배를 받기도 했으나, 이후 태국 현대사 속에서 북부의 중심지로 재탄생했습니다. 오늘날 우리가 보는 치앙마이 올드타운의 성벽과 사원들은 바로 이 란나 왕국의 유산입니다.</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치앙마이 여행의 핵심은 기후 선택입니다. 11월에서 2월 사이는 ’태국의 겨울’로 불리며 가장 인기가 많습니다. 반면 3~4월은 대기 오염과 폭염이 심해지므로 호흡기 질환이 있는 여행자는 주의가 필요합니다. 각 계절에 맞는 대비책을 세우는 것이 중요합니다.</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치앙마이 한 달 살기 예산은 라이프스타일에 따라 유동적입니다. 로컬 중심의 미니멀한 생활은 60만 원대로도 가능하지만, 고급 콘도와 미쉐린 맛집을 선호한다면 120만 원 이상을 고려해야 합니다. 초기 정착 시 보증금이나 유심 구매 비용 등을 추가로 책정하는 것이 좋습니다.</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숙소 위치는 여행의 성격을 결정짓는 가장 큰 요인입니다. 현대적 인프라를 원하면 님만해민을, 태국 특유의 고즈넉함을 원하면 올드타운을 추천합니다. 장기 체류 시에는 직접 발품을 팔아 콘도를 구하는 것이 에어비앤비보다 경제적일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치앙마이는 대중교통이 한국만큼 발달하지 않았지만, 호출 서비스의 보편화로 이동이 매우 편리합니다. 특히 혼자 여행한다면 그랩 오토바이가 가장 빠르고 저렴한 대안이 됩니다. 썽태우는 타기 전 기사에게 목적지를 말하고 가격을 확인하는 과정이 필요합니다.</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태국은 비자 규정이 빈번하게 변경되므로 입국 전 최신 정보를 확인하는 것이 필수입니다. 디지털 노마드들은 주로 무비자로 입국 후 인근 국가를 다녀오거나, 안정적인 체류를 위해 어학 학교에 등록하여 ED 비자를 발급받는 방식을 선호합니다.</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올드타운의 사원들은 치앙마이의 영혼과도 같습니다. 단순히 구경하는 곳이 아니라 현지인들에게는 신성한 신앙의 장소이므로 에의를 갖추는 것이 중요합니다. 특히 사진 촬영 시 불상을 존중하고 큰 소리로 떠들지 않도록 주의해야 합니다.</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도이수텝은 치앙마이 여행의 상징입니다. 산 위에 있어 시내보다 기온이 낮고 공기가 맑아 상쾌한 기분을 느낄 수 있습니다. 낮의 웅장함도 좋지만, 저녁 무렵 방문하여 일몰과 시내 야경을 함께 감상하는 일정이 특히 인기가 많습니다.</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도이 인타논은 하루를 온전히 투자해야 하는 근교 투어의 꽃입니다. 높은 고도 덕분에 연중 서늘하므로 가벼운 외투를 챙기는 것이 필수입니다. 자연경관뿐만 아니라 태국 왕실의 역사가 담긴 탑과 현지 부족의 삶까지 아우르는 복합적인 투어 경험을 제공합니다.</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치앙마이의 야시장은 단순한 쇼핑 장소가 아닌 문화적 축제의 현장입니다. 일정이 짧다면 일요일에 열리는 선데이 마켓은 절대 놓쳐서는 안 됩니다. 좁은 골목에 사람이 매우 붐비므로 소지품 관리에 유의하고, 마음에 드는 물건은 즉시 흥정하여 구매하는 재미를 느껴보세요.</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치앙마이는 식도락 여행지로도 명성이 높습니다. 특히 카오쏘이는 오직 북부 지역에서만 그 진수를 맛볼 수 있는 소울 푸드입니다. 위생이 걱정된다면 손님이 많은 식당이나 쇼핑몰 내부의 푸드코트를 이용하는 것도 현명한 방법입니다.</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치앙마이 미쉐린 식당의 큰 장점은 ’가성비’입니다. 한국에서는 상상하기 힘든 저렴한 가격으로 수준 높은 요리를 즐길 수 있습니다. 로컬 맛집은 영업시간이 짧거나 카드를 받지 않는 경우가 많으니 방문 전 구글맵 정보를 꼼꼼히 확인하세요.</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치앙마이가 디지털 노마드의 성지가 된 이유는 단순히 물가가 싸기 때문만은 아닙니다. 어디를 가나 업무에 집중할 수 있는 카페 문화가 형성되어 있고, 비슷한 목적을 가진 이들과 커뮤니티를 형성하기 쉽기 때문입니다. 일과 삶의 균형을 찾기에 이보다 좋은 곳은 드뭅니다.</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치앙마이의 카페들은 저마다의 개성이 뚜렷합니다. 집중 업무를 원한다면 대학가 근처의 조용한 곳을, 영감을 얻고 싶다면 예술가들이 모이는 반캉왓 인근을 추천합니다. 대부분의 카페가 5~6시에 일찍 문을 닫는다는 점을 고려하여 일정을 짜야 합니다.</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카페에서 일을 할 때는 해당 장소의 규정을 존중하는 태도가 필요합니다. 최근 일부 감성 카페들은 노트북 사용 시간을 제한하기도 하므로, 장시간 업무가 필요하다면 전문 코워킹 스페이스나 대형 스타벅스, 24시 카페를 이용하는 것이 안전합니다.</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치앙마이의 액티비티는 자연과의 공존을 지향합니다. 특히 코끼리 투어를 선택할 때는 코끼리를 부리는 곳이 아닌 상처받은 동물을 돌보는 보호소를 선택하는 것이 좋습니다. 이런 경험들은 여행자들에게 깊은 울림과 교육적 가치를 제공합니다.</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치앙마이는 볼거리가 많아 계획을 잘 세워야 합니다. 일요일이 포함된 일정이라면 반드시 선데이 마켓을 우선순위에 두세요. 너무 빽빽한 일정보다는 하루 한두 군데의 명소를 여유롭게 즐기고, 나머지는 카페에서 멍 때리는 것이 진정한 치앙마이 여행법입니다.</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태국은 ’미소의 나라’라 불릴 만큼 친절하지만, 예의에 어긋나는 행동에는 엄격합니다. 특히 머리를 만지거나 발로 사물을 가리키는 등의 행위는 결례입니다. 기본적인 에티켓과 태국어 인사를 익히는 것만으로도 훨씬 따뜻하고 안전한 환대를 받을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0.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3.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8.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치앙마이 개요</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태국 북부의 문화 중심지</a:t>
            </a:r>
          </a:p>
        </p:txBody>
      </p:sp>
      <p:sp>
        <p:nvSpPr>
          <p:cNvPr id="3" name="Content Placeholder 2"/>
          <p:cNvSpPr>
            <a:spLocks noGrp="1"/>
          </p:cNvSpPr>
          <p:nvPr>
            <p:ph idx="1"/>
          </p:nvPr>
        </p:nvSpPr>
        <p:spPr/>
        <p:txBody>
          <a:bodyPr/>
          <a:lstStyle/>
          <a:p>
            <a:pPr lvl="0"/>
            <a:r>
              <a:rPr/>
              <a:t>방콕에서 북서쪽으로 약 700km 거리인 삥 강 기슭에 위치한 태국 제2의 대도시임</a:t>
            </a:r>
          </a:p>
          <a:p>
            <a:pPr lvl="0"/>
            <a:r>
              <a:rPr/>
              <a:t>1296년 멩라이 왕이 건국한 란나 왕국의 수도로서 독자적인 역사를 지닌 고도임</a:t>
            </a:r>
          </a:p>
          <a:p>
            <a:pPr lvl="0"/>
            <a:r>
              <a:rPr/>
              <a:t>전통적인 수공예품과 우산 및 보석 세공의 중심지로 현대적 감각과 전통이 공존함</a:t>
            </a:r>
          </a:p>
          <a:p>
            <a:pPr lvl="0"/>
            <a:r>
              <a:rPr/>
              <a:t>디지털 노마드의 성지로 불리며 전 세계 장기 체류자들에게 사랑받는 평화로운 환경임</a:t>
            </a:r>
          </a:p>
          <a:p>
            <a:pPr lvl="0"/>
            <a:r>
              <a:rPr/>
              <a:t>매년 약 100만 명 이상의 관광객이 방문하는 글로벌 여행지이자 아세안의 주요 거점임</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란나 역사</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고대 왕국의 유산과 변천</a:t>
            </a:r>
          </a:p>
        </p:txBody>
      </p:sp>
      <p:sp>
        <p:nvSpPr>
          <p:cNvPr id="3" name="Content Placeholder 2"/>
          <p:cNvSpPr>
            <a:spLocks noGrp="1"/>
          </p:cNvSpPr>
          <p:nvPr>
            <p:ph idx="1"/>
          </p:nvPr>
        </p:nvSpPr>
        <p:spPr/>
        <p:txBody>
          <a:bodyPr/>
          <a:lstStyle/>
          <a:p>
            <a:pPr lvl="0"/>
            <a:r>
              <a:rPr/>
              <a:t>1292년 건국되어 18세기까지 태국 북부 지역을 통치한 강력한 독립 왕국임</a:t>
            </a:r>
          </a:p>
          <a:p>
            <a:pPr lvl="0"/>
            <a:r>
              <a:rPr/>
              <a:t>치앙라이에 이어 치앙마이를 두 번째 수도로 삼아 불교 예술의 황금기를 구가함</a:t>
            </a:r>
          </a:p>
          <a:p>
            <a:pPr lvl="0"/>
            <a:r>
              <a:rPr/>
              <a:t>버마의 침략에 대비하기 위해 성벽과 해자로 둘러싸인 독특한 도시 구조를 형성함</a:t>
            </a:r>
          </a:p>
          <a:p>
            <a:pPr lvl="0"/>
            <a:r>
              <a:rPr/>
              <a:t>18세기 후반 딱신 왕의 도움으로 버마를 물리친 후 공식적으로 시암의 일부가 됨</a:t>
            </a:r>
          </a:p>
          <a:p>
            <a:pPr lvl="0"/>
            <a:r>
              <a:rPr/>
              <a:t>독자적인 란나어와 문학 및 건축 양식을 보존하며 태국 북부 정체성의 근간이 됨</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여행 시기</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기후 특성과 최적의 방문 시점</a:t>
            </a:r>
          </a:p>
        </p:txBody>
      </p:sp>
      <p:sp>
        <p:nvSpPr>
          <p:cNvPr id="4" name="Text Placeholder 3"/>
          <p:cNvSpPr>
            <a:spLocks noGrp="1"/>
          </p:cNvSpPr>
          <p:nvPr>
            <p:ph idx="2" sz="half" type="body"/>
          </p:nvPr>
        </p:nvSpPr>
        <p:spPr/>
        <p:txBody>
          <a:bodyPr/>
          <a:lstStyle/>
          <a:p>
            <a:pPr lvl="0"/>
            <a:r>
              <a:rPr/>
              <a:t>11월부터 2월까지 이어지는 건기는 날씨가 쾌적하여 야외 활동에 가장 적합한 시기임</a:t>
            </a:r>
          </a:p>
          <a:p>
            <a:pPr lvl="0"/>
            <a:r>
              <a:rPr/>
              <a:t>3월부터 5월은 건기 중 가장 더운 시기로 낮 기온이 40도에 육박하는 무더위가 지속됨</a:t>
            </a:r>
          </a:p>
          <a:p>
            <a:pPr lvl="0"/>
            <a:r>
              <a:rPr/>
              <a:t>6월부터 10월까지의 우기는 스콜성 비가 잦으나 자연경관이 가장 푸르게 빛나는 기간임</a:t>
            </a:r>
          </a:p>
          <a:p>
            <a:pPr lvl="0"/>
            <a:r>
              <a:rPr/>
              <a:t>3월 중순부터 시작되는 소각 시즌에는 미세먼지 수치가 급증하므로 방문을 피하는 것이 좋음</a:t>
            </a:r>
          </a:p>
          <a:p>
            <a:pPr lvl="0"/>
            <a:r>
              <a:rPr/>
              <a:t>11월 열리는 러이끄라통 축제는 수천 개의 등불이 밤하늘을 수놓는 환상적인 풍경을 제공함</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구분</a:t>
                      </a:r>
                    </a:p>
                  </a:txBody>
                  <a:tcPr/>
                </a:tc>
                <a:tc>
                  <a:txBody>
                    <a:bodyPr/>
                    <a:lstStyle/>
                    <a:p>
                      <a:pPr lvl="0" indent="0" marL="0" algn="l">
                        <a:buNone/>
                      </a:pPr>
                      <a:r>
                        <a:rPr/>
                        <a:t>기간</a:t>
                      </a:r>
                    </a:p>
                  </a:txBody>
                  <a:tcPr/>
                </a:tc>
                <a:tc>
                  <a:txBody>
                    <a:bodyPr/>
                    <a:lstStyle/>
                    <a:p>
                      <a:pPr lvl="0" indent="0" marL="0" algn="l">
                        <a:buNone/>
                      </a:pPr>
                      <a:r>
                        <a:rPr/>
                        <a:t>특징</a:t>
                      </a:r>
                    </a:p>
                  </a:txBody>
                  <a:tcPr/>
                </a:tc>
                <a:tc>
                  <a:txBody>
                    <a:bodyPr/>
                    <a:lstStyle/>
                    <a:p>
                      <a:pPr lvl="0" indent="0" marL="0" algn="l">
                        <a:buNone/>
                      </a:pPr>
                      <a:r>
                        <a:rPr/>
                        <a:t>권장 활동</a:t>
                      </a:r>
                    </a:p>
                  </a:txBody>
                  <a:tcPr/>
                </a:tc>
              </a:tr>
              <a:tr h="0">
                <a:tc>
                  <a:txBody>
                    <a:bodyPr/>
                    <a:lstStyle/>
                    <a:p>
                      <a:pPr lvl="0" indent="0" marL="0" algn="l">
                        <a:buNone/>
                      </a:pPr>
                      <a:r>
                        <a:rPr/>
                        <a:t>건기</a:t>
                      </a:r>
                    </a:p>
                  </a:txBody>
                </a:tc>
                <a:tc>
                  <a:txBody>
                    <a:bodyPr/>
                    <a:lstStyle/>
                    <a:p>
                      <a:pPr lvl="0" indent="0" marL="0" algn="l">
                        <a:buNone/>
                      </a:pPr>
                      <a:r>
                        <a:rPr/>
                        <a:t>11월~2월</a:t>
                      </a:r>
                    </a:p>
                  </a:txBody>
                </a:tc>
                <a:tc>
                  <a:txBody>
                    <a:bodyPr/>
                    <a:lstStyle/>
                    <a:p>
                      <a:pPr lvl="0" indent="0" marL="0" algn="l">
                        <a:buNone/>
                      </a:pPr>
                      <a:r>
                        <a:rPr/>
                        <a:t>선선하고 맑음</a:t>
                      </a:r>
                    </a:p>
                  </a:txBody>
                </a:tc>
                <a:tc>
                  <a:txBody>
                    <a:bodyPr/>
                    <a:lstStyle/>
                    <a:p>
                      <a:pPr lvl="0" indent="0" marL="0" algn="l">
                        <a:buNone/>
                      </a:pPr>
                      <a:r>
                        <a:rPr/>
                        <a:t>사원 탐방 및 트레킹</a:t>
                      </a:r>
                    </a:p>
                  </a:txBody>
                </a:tc>
              </a:tr>
              <a:tr h="0">
                <a:tc>
                  <a:txBody>
                    <a:bodyPr/>
                    <a:lstStyle/>
                    <a:p>
                      <a:pPr lvl="0" indent="0" marL="0" algn="l">
                        <a:buNone/>
                      </a:pPr>
                      <a:r>
                        <a:rPr/>
                        <a:t>무더위</a:t>
                      </a:r>
                    </a:p>
                  </a:txBody>
                </a:tc>
                <a:tc>
                  <a:txBody>
                    <a:bodyPr/>
                    <a:lstStyle/>
                    <a:p>
                      <a:pPr lvl="0" indent="0" marL="0" algn="l">
                        <a:buNone/>
                      </a:pPr>
                      <a:r>
                        <a:rPr/>
                        <a:t>3월~5월</a:t>
                      </a:r>
                    </a:p>
                  </a:txBody>
                </a:tc>
                <a:tc>
                  <a:txBody>
                    <a:bodyPr/>
                    <a:lstStyle/>
                    <a:p>
                      <a:pPr lvl="0" indent="0" marL="0" algn="l">
                        <a:buNone/>
                      </a:pPr>
                      <a:r>
                        <a:rPr/>
                        <a:t>매우 덥고 건조함</a:t>
                      </a:r>
                    </a:p>
                  </a:txBody>
                </a:tc>
                <a:tc>
                  <a:txBody>
                    <a:bodyPr/>
                    <a:lstStyle/>
                    <a:p>
                      <a:pPr lvl="0" indent="0" marL="0" algn="l">
                        <a:buNone/>
                      </a:pPr>
                      <a:r>
                        <a:rPr/>
                        <a:t>실내 카페 투어 및 쇼핑</a:t>
                      </a:r>
                    </a:p>
                  </a:txBody>
                </a:tc>
              </a:tr>
              <a:tr h="0">
                <a:tc>
                  <a:txBody>
                    <a:bodyPr/>
                    <a:lstStyle/>
                    <a:p>
                      <a:pPr lvl="0" indent="0" marL="0" algn="l">
                        <a:buNone/>
                      </a:pPr>
                      <a:r>
                        <a:rPr/>
                        <a:t>우기</a:t>
                      </a:r>
                    </a:p>
                  </a:txBody>
                </a:tc>
                <a:tc>
                  <a:txBody>
                    <a:bodyPr/>
                    <a:lstStyle/>
                    <a:p>
                      <a:pPr lvl="0" indent="0" marL="0" algn="l">
                        <a:buNone/>
                      </a:pPr>
                      <a:r>
                        <a:rPr/>
                        <a:t>6월~10월</a:t>
                      </a:r>
                    </a:p>
                  </a:txBody>
                </a:tc>
                <a:tc>
                  <a:txBody>
                    <a:bodyPr/>
                    <a:lstStyle/>
                    <a:p>
                      <a:pPr lvl="0" indent="0" marL="0" algn="l">
                        <a:buNone/>
                      </a:pPr>
                      <a:r>
                        <a:rPr/>
                        <a:t>스콜 잦음, 습함</a:t>
                      </a:r>
                    </a:p>
                  </a:txBody>
                </a:tc>
                <a:tc>
                  <a:txBody>
                    <a:bodyPr/>
                    <a:lstStyle/>
                    <a:p>
                      <a:pPr lvl="0" indent="0" marL="0" algn="l">
                        <a:buNone/>
                      </a:pPr>
                      <a:r>
                        <a:rPr/>
                        <a:t>호캉스 및 온천 이용</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체류 예산</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한 달 살기 기준 항목별 지출</a:t>
            </a:r>
          </a:p>
        </p:txBody>
      </p:sp>
      <p:sp>
        <p:nvSpPr>
          <p:cNvPr id="3" name="Content Placeholder 2"/>
          <p:cNvSpPr>
            <a:spLocks noGrp="1"/>
          </p:cNvSpPr>
          <p:nvPr>
            <p:ph idx="1"/>
          </p:nvPr>
        </p:nvSpPr>
        <p:spPr/>
        <p:txBody>
          <a:bodyPr/>
          <a:lstStyle/>
          <a:p>
            <a:pPr lvl="0"/>
            <a:r>
              <a:rPr/>
              <a:t>1인 기준 한 달 생활비는 약 70만 원에서 120만 원 수준으로 경제적 부담이 적음</a:t>
            </a:r>
          </a:p>
          <a:p>
            <a:pPr lvl="0"/>
            <a:r>
              <a:rPr/>
              <a:t>외곽 지역 원룸은 월 35만 원부터 시작하며 수영장과 헬스장 등 부대시설이 포함됨</a:t>
            </a:r>
          </a:p>
          <a:p>
            <a:pPr lvl="0"/>
            <a:r>
              <a:rPr/>
              <a:t>현지 식당 이용 시 한 끼에 약 1,500원에서 4,000원 사이로 식비 해결이 가능함</a:t>
            </a:r>
          </a:p>
          <a:p>
            <a:pPr lvl="0"/>
            <a:r>
              <a:rPr/>
              <a:t>전기세와 수도세 등 유틸리티 비용은 에어컨 사용량에 따라 월 6만~8만 원 정도 발생함</a:t>
            </a:r>
          </a:p>
          <a:p>
            <a:pPr lvl="0"/>
            <a:r>
              <a:rPr/>
              <a:t>망고와 망고스틴 같은 열대 과일을 시장에서 1kg당 2천 원 내외의 저렴한 가격에 구입함</a:t>
            </a:r>
          </a:p>
          <a:p>
            <a:pPr lvl="0" indent="0" marL="0">
              <a:buNone/>
            </a:pPr>
            <a:r>
              <a:rPr/>
              <a:t>항목A(숙소): ██████████ (약 45만) 항목B(식비): ███████ (약 30만) 항목C(여가): ████ (약 15만) 항목D(교통): ██ (약 5만)</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숙소 선정</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지역별 특징과 거주 환경 비교</a:t>
            </a:r>
          </a:p>
        </p:txBody>
      </p:sp>
      <p:sp>
        <p:nvSpPr>
          <p:cNvPr id="3" name="Content Placeholder 2"/>
          <p:cNvSpPr>
            <a:spLocks noGrp="1"/>
          </p:cNvSpPr>
          <p:nvPr>
            <p:ph idx="1"/>
          </p:nvPr>
        </p:nvSpPr>
        <p:spPr/>
        <p:txBody>
          <a:bodyPr/>
          <a:lstStyle/>
          <a:p>
            <a:pPr lvl="0"/>
            <a:r>
              <a:rPr/>
              <a:t>님만해민은 대형 쇼핑몰과 현대적 카페가 밀집하여 편리함과 안전을 중시하는 분께 적합함</a:t>
            </a:r>
          </a:p>
          <a:p>
            <a:pPr lvl="0"/>
            <a:r>
              <a:rPr/>
              <a:t>올드타운은 유서 깊은 사원과 전통 거리가 인접하여 란나의 낭만과 역사를 느끼기 좋음</a:t>
            </a:r>
          </a:p>
          <a:p>
            <a:pPr lvl="0"/>
            <a:r>
              <a:rPr/>
              <a:t>핑 강 주변은 넓은 수영장을 갖춘 리조트가 많아 가족 단위 휴양객에게 최적의 장소임</a:t>
            </a:r>
          </a:p>
          <a:p>
            <a:pPr lvl="0"/>
            <a:r>
              <a:rPr/>
              <a:t>산티탐은 관광지에서 살짝 벗어나 저렴한 물가와 로컬 감성을 추구하는 장기 체류자용임</a:t>
            </a:r>
          </a:p>
          <a:p>
            <a:pPr lvl="0"/>
            <a:r>
              <a:rPr/>
              <a:t>빠이는 치앙마이에서 차로 3시간 거리의 산속 마을로 고립된 평화와 힐링을 제공함</a:t>
            </a:r>
          </a:p>
          <a:p>
            <a:pPr lvl="0" indent="0" marL="0">
              <a:buNone/>
            </a:pPr>
            <a:r>
              <a:rPr/>
              <a:t>[사례 요약: 디지털 노마드 A씨의 숙소 선택] - 직무: 프리랜서 개발자 - 선택: 님만해민 서비스 아파트먼트 - 이유: 마야 몰 인근의 빠른 인터넷 환경과 코워킹 스페이스 접근성 중시 - 만족도: 비행기 소음이 다소 있으나 쇼핑과 업무 편의성이 압도적으로 높음</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교통 수단</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시내 이동 및 공항 접근 방법</a:t>
            </a:r>
          </a:p>
        </p:txBody>
      </p:sp>
      <p:sp>
        <p:nvSpPr>
          <p:cNvPr id="3" name="Content Placeholder 2"/>
          <p:cNvSpPr>
            <a:spLocks noGrp="1"/>
          </p:cNvSpPr>
          <p:nvPr>
            <p:ph idx="1"/>
          </p:nvPr>
        </p:nvSpPr>
        <p:spPr/>
        <p:txBody>
          <a:bodyPr/>
          <a:lstStyle/>
          <a:p>
            <a:pPr lvl="0"/>
            <a:r>
              <a:rPr/>
              <a:t>시내 중심에서 4km 떨어진 공항은 픽업 서비스나 그랩을 이용해 신속하게 이동 가능함</a:t>
            </a:r>
          </a:p>
          <a:p>
            <a:pPr lvl="0"/>
            <a:r>
              <a:rPr/>
              <a:t>썽태우는 1톤 트럭을 개조한 합승 차량으로 방향이 맞으면 저렴하게 이용하는 대표 수단임</a:t>
            </a:r>
          </a:p>
          <a:p>
            <a:pPr lvl="0"/>
            <a:r>
              <a:rPr/>
              <a:t>뚝뚝은 요금 흥정이 필수적인 3륜 오토바이로 단거리 이동이나 관광 기분을 낼 때 사용함</a:t>
            </a:r>
          </a:p>
          <a:p>
            <a:pPr lvl="0"/>
            <a:r>
              <a:rPr/>
              <a:t>그랩(Grab) 앱을 통해 자동차나 오토바이 택시를 호출하면 투명한 가격으로 안전하게 이동함</a:t>
            </a:r>
          </a:p>
          <a:p>
            <a:pPr lvl="0"/>
            <a:r>
              <a:rPr/>
              <a:t>시내 일반 버스는 배차 간격이 길어 관광객보다는 현지인 위주로 운영되는 실정임</a:t>
            </a:r>
          </a:p>
          <a:p>
            <a:pPr lvl="0" indent="0" marL="0">
              <a:buNone/>
            </a:pPr>
            <a:r>
              <a:rPr/>
              <a:t>[입국] -&gt; [프라이빗 픽업 또는 그랩 호출] -&gt; [숙소 도착] [시내 이동] -&gt; [썽태우 손흔들기 또는 그랩 오토바이] -&gt; [목적지 도착]</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비자 종류</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체류 기간에 따른 신청 전략</a:t>
            </a:r>
          </a:p>
        </p:txBody>
      </p:sp>
      <p:sp>
        <p:nvSpPr>
          <p:cNvPr id="4" name="Text Placeholder 3"/>
          <p:cNvSpPr>
            <a:spLocks noGrp="1"/>
          </p:cNvSpPr>
          <p:nvPr>
            <p:ph idx="2" sz="half" type="body"/>
          </p:nvPr>
        </p:nvSpPr>
        <p:spPr/>
        <p:txBody>
          <a:bodyPr/>
          <a:lstStyle/>
          <a:p>
            <a:pPr lvl="0"/>
            <a:r>
              <a:rPr/>
              <a:t>일반적인 관광 목적의 무비자 입국은 최대 30일간 가능하며 현지에서 60일로 연장됨</a:t>
            </a:r>
          </a:p>
          <a:p>
            <a:pPr lvl="0"/>
            <a:r>
              <a:rPr/>
              <a:t>어학연수나 무에타이 수련 목적의 ED 비자는 90일에서 1년까지 장기 체류가 가능함</a:t>
            </a:r>
          </a:p>
          <a:p>
            <a:pPr lvl="0"/>
            <a:r>
              <a:rPr/>
              <a:t>만 50세 이상의 은퇴자를 위한 Non-O 비자는 일정 예치금 증명 시 1년 단위 연장됨</a:t>
            </a:r>
          </a:p>
          <a:p>
            <a:pPr lvl="0"/>
            <a:r>
              <a:rPr/>
              <a:t>고소득자나 전문가용 LTR 비자는 최대 10년의 장기 거주 권한과 세제 혜택을 부여함</a:t>
            </a:r>
          </a:p>
          <a:p>
            <a:pPr lvl="0"/>
            <a:r>
              <a:rPr/>
              <a:t>유료 회원제인 엘리트 비자는 고가의 비용으로 5년에서 20년까지 자유로운 입출국을 지원함</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비자 명칭</a:t>
                      </a:r>
                    </a:p>
                  </a:txBody>
                  <a:tcPr/>
                </a:tc>
                <a:tc>
                  <a:txBody>
                    <a:bodyPr/>
                    <a:lstStyle/>
                    <a:p>
                      <a:pPr lvl="0" indent="0" marL="0" algn="ctr">
                        <a:buNone/>
                      </a:pPr>
                      <a:r>
                        <a:rPr/>
                        <a:t>체류 기간</a:t>
                      </a:r>
                    </a:p>
                  </a:txBody>
                  <a:tcPr/>
                </a:tc>
                <a:tc>
                  <a:txBody>
                    <a:bodyPr/>
                    <a:lstStyle/>
                    <a:p>
                      <a:pPr lvl="0" indent="0" marL="0" algn="l">
                        <a:buNone/>
                      </a:pPr>
                      <a:r>
                        <a:rPr/>
                        <a:t>주요 대상</a:t>
                      </a:r>
                    </a:p>
                  </a:txBody>
                  <a:tcPr/>
                </a:tc>
                <a:tc>
                  <a:txBody>
                    <a:bodyPr/>
                    <a:lstStyle/>
                    <a:p>
                      <a:pPr lvl="0" indent="0" marL="0" algn="l">
                        <a:buNone/>
                      </a:pPr>
                      <a:r>
                        <a:rPr/>
                        <a:t>특징</a:t>
                      </a:r>
                    </a:p>
                  </a:txBody>
                  <a:tcPr/>
                </a:tc>
              </a:tr>
              <a:tr h="0">
                <a:tc>
                  <a:txBody>
                    <a:bodyPr/>
                    <a:lstStyle/>
                    <a:p>
                      <a:pPr lvl="0" indent="0" marL="0" algn="l">
                        <a:buNone/>
                      </a:pPr>
                      <a:r>
                        <a:rPr/>
                        <a:t>무비자</a:t>
                      </a:r>
                    </a:p>
                  </a:txBody>
                </a:tc>
                <a:tc>
                  <a:txBody>
                    <a:bodyPr/>
                    <a:lstStyle/>
                    <a:p>
                      <a:pPr lvl="0" indent="0" marL="0" algn="ctr">
                        <a:buNone/>
                      </a:pPr>
                      <a:r>
                        <a:rPr/>
                        <a:t>30~60일</a:t>
                      </a:r>
                    </a:p>
                  </a:txBody>
                </a:tc>
                <a:tc>
                  <a:txBody>
                    <a:bodyPr/>
                    <a:lstStyle/>
                    <a:p>
                      <a:pPr lvl="0" indent="0" marL="0" algn="l">
                        <a:buNone/>
                      </a:pPr>
                      <a:r>
                        <a:rPr/>
                        <a:t>단기 관광객</a:t>
                      </a:r>
                    </a:p>
                  </a:txBody>
                </a:tc>
                <a:tc>
                  <a:txBody>
                    <a:bodyPr/>
                    <a:lstStyle/>
                    <a:p>
                      <a:pPr lvl="0" indent="0" marL="0" algn="l">
                        <a:buNone/>
                      </a:pPr>
                      <a:r>
                        <a:rPr/>
                        <a:t>별도 서류 불필요</a:t>
                      </a:r>
                    </a:p>
                  </a:txBody>
                </a:tc>
              </a:tr>
              <a:tr h="0">
                <a:tc>
                  <a:txBody>
                    <a:bodyPr/>
                    <a:lstStyle/>
                    <a:p>
                      <a:pPr lvl="0" indent="0" marL="0" algn="l">
                        <a:buNone/>
                      </a:pPr>
                      <a:r>
                        <a:rPr/>
                        <a:t>ED 비자</a:t>
                      </a:r>
                    </a:p>
                  </a:txBody>
                </a:tc>
                <a:tc>
                  <a:txBody>
                    <a:bodyPr/>
                    <a:lstStyle/>
                    <a:p>
                      <a:pPr lvl="0" indent="0" marL="0" algn="ctr">
                        <a:buNone/>
                      </a:pPr>
                      <a:r>
                        <a:rPr/>
                        <a:t>90일~1년</a:t>
                      </a:r>
                    </a:p>
                  </a:txBody>
                </a:tc>
                <a:tc>
                  <a:txBody>
                    <a:bodyPr/>
                    <a:lstStyle/>
                    <a:p>
                      <a:pPr lvl="0" indent="0" marL="0" algn="l">
                        <a:buNone/>
                      </a:pPr>
                      <a:r>
                        <a:rPr/>
                        <a:t>어학/취미 교육생</a:t>
                      </a:r>
                    </a:p>
                  </a:txBody>
                </a:tc>
                <a:tc>
                  <a:txBody>
                    <a:bodyPr/>
                    <a:lstStyle/>
                    <a:p>
                      <a:pPr lvl="0" indent="0" marL="0" algn="l">
                        <a:buNone/>
                      </a:pPr>
                      <a:r>
                        <a:rPr/>
                        <a:t>실제 출석 여부 중요</a:t>
                      </a:r>
                    </a:p>
                  </a:txBody>
                </a:tc>
              </a:tr>
              <a:tr h="0">
                <a:tc>
                  <a:txBody>
                    <a:bodyPr/>
                    <a:lstStyle/>
                    <a:p>
                      <a:pPr lvl="0" indent="0" marL="0" algn="l">
                        <a:buNone/>
                      </a:pPr>
                      <a:r>
                        <a:rPr/>
                        <a:t>은퇴 비자</a:t>
                      </a:r>
                    </a:p>
                  </a:txBody>
                </a:tc>
                <a:tc>
                  <a:txBody>
                    <a:bodyPr/>
                    <a:lstStyle/>
                    <a:p>
                      <a:pPr lvl="0" indent="0" marL="0" algn="ctr">
                        <a:buNone/>
                      </a:pPr>
                      <a:r>
                        <a:rPr/>
                        <a:t>1년 단위</a:t>
                      </a:r>
                    </a:p>
                  </a:txBody>
                </a:tc>
                <a:tc>
                  <a:txBody>
                    <a:bodyPr/>
                    <a:lstStyle/>
                    <a:p>
                      <a:pPr lvl="0" indent="0" marL="0" algn="l">
                        <a:buNone/>
                      </a:pPr>
                      <a:r>
                        <a:rPr/>
                        <a:t>만 50세 이상</a:t>
                      </a:r>
                    </a:p>
                  </a:txBody>
                </a:tc>
                <a:tc>
                  <a:txBody>
                    <a:bodyPr/>
                    <a:lstStyle/>
                    <a:p>
                      <a:pPr lvl="0" indent="0" marL="0" algn="l">
                        <a:buNone/>
                      </a:pPr>
                      <a:r>
                        <a:rPr/>
                        <a:t>80만 바트 예치금</a:t>
                      </a:r>
                    </a:p>
                  </a:txBody>
                </a:tc>
              </a:tr>
              <a:tr h="0">
                <a:tc>
                  <a:txBody>
                    <a:bodyPr/>
                    <a:lstStyle/>
                    <a:p>
                      <a:pPr lvl="0" indent="0" marL="0" algn="l">
                        <a:buNone/>
                      </a:pPr>
                      <a:r>
                        <a:rPr/>
                        <a:t>LTR 비자</a:t>
                      </a:r>
                    </a:p>
                  </a:txBody>
                </a:tc>
                <a:tc>
                  <a:txBody>
                    <a:bodyPr/>
                    <a:lstStyle/>
                    <a:p>
                      <a:pPr lvl="0" indent="0" marL="0" algn="ctr">
                        <a:buNone/>
                      </a:pPr>
                      <a:r>
                        <a:rPr/>
                        <a:t>10년</a:t>
                      </a:r>
                    </a:p>
                  </a:txBody>
                </a:tc>
                <a:tc>
                  <a:txBody>
                    <a:bodyPr/>
                    <a:lstStyle/>
                    <a:p>
                      <a:pPr lvl="0" indent="0" marL="0" algn="l">
                        <a:buNone/>
                      </a:pPr>
                      <a:r>
                        <a:rPr/>
                        <a:t>전문직/자산가</a:t>
                      </a:r>
                    </a:p>
                  </a:txBody>
                </a:tc>
                <a:tc>
                  <a:txBody>
                    <a:bodyPr/>
                    <a:lstStyle/>
                    <a:p>
                      <a:pPr lvl="0" indent="0" marL="0" algn="l">
                        <a:buNone/>
                      </a:pPr>
                      <a:r>
                        <a:rPr/>
                        <a:t>소득 증빙 필수</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주요 사원</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올드타운의 핵심 역사 스팟</a:t>
            </a:r>
          </a:p>
        </p:txBody>
      </p:sp>
      <p:sp>
        <p:nvSpPr>
          <p:cNvPr id="3" name="Content Placeholder 2"/>
          <p:cNvSpPr>
            <a:spLocks noGrp="1"/>
          </p:cNvSpPr>
          <p:nvPr>
            <p:ph idx="1"/>
          </p:nvPr>
        </p:nvSpPr>
        <p:spPr/>
        <p:txBody>
          <a:bodyPr/>
          <a:lstStyle/>
          <a:p>
            <a:pPr lvl="0"/>
            <a:r>
              <a:rPr/>
              <a:t>왓 체디 루앙은 과거 거대한 불탑의 웅장함을 간직한 치앙마이 최대 규모의 사원임</a:t>
            </a:r>
          </a:p>
          <a:p>
            <a:pPr lvl="0"/>
            <a:r>
              <a:rPr/>
              <a:t>왓 치앙만은 란나 왕국에서 가장 오래된 사원으로 코끼리가 떠받치는 황금 탑이 유명함</a:t>
            </a:r>
          </a:p>
          <a:p>
            <a:pPr lvl="0"/>
            <a:r>
              <a:rPr/>
              <a:t>왓 프라씽은 도시를 대표하는 사원으로 낮 시간의 화려한 황금빛 건축미가 압도적임</a:t>
            </a:r>
          </a:p>
          <a:p>
            <a:pPr lvl="0"/>
            <a:r>
              <a:rPr/>
              <a:t>왓 우몽은 숲속 동굴 내부에 불상이 모셔진 독특한 형태의 고요한 명상 사원임</a:t>
            </a:r>
          </a:p>
          <a:p>
            <a:pPr lvl="0"/>
            <a:r>
              <a:rPr/>
              <a:t>사원 방문 시에는 어깨와 무릎을 가리는 단정한 복장 규정을 엄격히 준수해야 함</a:t>
            </a:r>
          </a:p>
          <a:p>
            <a:pPr lvl="0" indent="0" marL="0">
              <a:buNone/>
            </a:pPr>
            <a:r>
              <a:rPr/>
              <a:t>[실무 사례: 사원 복장 위반 시 대응] - 상황: 민소매와 반바지 차림으로 왓 체디 루앙 방문 - 대응: 입구에서 보증금 100바트를 지불하고 가운을 대여하여 입장 - 결과: 사원의 신성함을 존중하며 관람 완료 후 보증금 전액 반환받음</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도이수텝</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시내를 굽어보는 영적 하이라이트</a:t>
            </a:r>
          </a:p>
        </p:txBody>
      </p:sp>
      <p:sp>
        <p:nvSpPr>
          <p:cNvPr id="3" name="Content Placeholder 2"/>
          <p:cNvSpPr>
            <a:spLocks noGrp="1"/>
          </p:cNvSpPr>
          <p:nvPr>
            <p:ph idx="1"/>
          </p:nvPr>
        </p:nvSpPr>
        <p:spPr/>
        <p:txBody>
          <a:bodyPr/>
          <a:lstStyle/>
          <a:p>
            <a:pPr lvl="0"/>
            <a:r>
              <a:rPr/>
              <a:t>해발 1,676m 산 정상에 위치하여 치앙마이 시내를 한눈에 조망할 수 있는 명소임</a:t>
            </a:r>
          </a:p>
          <a:p>
            <a:pPr lvl="0"/>
            <a:r>
              <a:rPr/>
              <a:t>부처의 사리를 모신 황금빛 사리탑과 섬세한 조각들이 신비로운 분위기를 자아냄</a:t>
            </a:r>
          </a:p>
          <a:p>
            <a:pPr lvl="0"/>
            <a:r>
              <a:rPr/>
              <a:t>309개의 긴 계단을 오르며 수양을 하거나 썽태우를 이용해 편리하게 접근 가능함</a:t>
            </a:r>
          </a:p>
          <a:p>
            <a:pPr lvl="0"/>
            <a:r>
              <a:rPr/>
              <a:t>“도이수텝을 보지 않으면 치앙마이를 본 것이 아니다”라는 말이 있을 정도로 필수 코스임</a:t>
            </a:r>
          </a:p>
          <a:p>
            <a:pPr lvl="0"/>
            <a:r>
              <a:rPr/>
              <a:t>야경 투어를 통해 밤하늘과 어우러진 황금 사원의 화려한 야간 경관을 감상할 수 있음</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국립공원</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태국의 최고봉 도이 인타논 탐방</a:t>
            </a:r>
          </a:p>
        </p:txBody>
      </p:sp>
      <p:sp>
        <p:nvSpPr>
          <p:cNvPr id="4" name="Text Placeholder 3"/>
          <p:cNvSpPr>
            <a:spLocks noGrp="1"/>
          </p:cNvSpPr>
          <p:nvPr>
            <p:ph idx="2" sz="half" type="body"/>
          </p:nvPr>
        </p:nvSpPr>
        <p:spPr/>
        <p:txBody>
          <a:bodyPr/>
          <a:lstStyle/>
          <a:p>
            <a:pPr lvl="0"/>
            <a:r>
              <a:rPr/>
              <a:t>히말라야 산맥의 끝자락인 해발 2,565m 지점으로 태국에서 가장 높은 지역임</a:t>
            </a:r>
          </a:p>
          <a:p>
            <a:pPr lvl="0"/>
            <a:r>
              <a:rPr/>
              <a:t>왕과 왕비의 장수 기념탑 주변의 아름다운 정원과 고산지대 식물을 감상함</a:t>
            </a:r>
          </a:p>
          <a:p>
            <a:pPr lvl="0"/>
            <a:r>
              <a:rPr/>
              <a:t>와치라탄 폭포는 웅장한 수량을 자랑하며 자연의 경이로움을 체험하게 해주는 스팟임</a:t>
            </a:r>
          </a:p>
          <a:p>
            <a:pPr lvl="0"/>
            <a:r>
              <a:rPr/>
              <a:t>건기에는 끼우매판, 우기에는 파톡씨여우 코스를 통해 자연 속 트레킹을 즐김</a:t>
            </a:r>
          </a:p>
          <a:p>
            <a:pPr lvl="0"/>
            <a:r>
              <a:rPr/>
              <a:t>고산족인 화이트 카렌족 마을을 방문하여 그들의 전통문화와 생활상을 관찰함</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투어 일정</a:t>
                      </a:r>
                    </a:p>
                  </a:txBody>
                  <a:tcPr/>
                </a:tc>
                <a:tc>
                  <a:txBody>
                    <a:bodyPr/>
                    <a:lstStyle/>
                    <a:p>
                      <a:pPr lvl="0" indent="0" marL="0" algn="l">
                        <a:buNone/>
                      </a:pPr>
                      <a:r>
                        <a:rPr/>
                        <a:t>활동 내용</a:t>
                      </a:r>
                    </a:p>
                  </a:txBody>
                  <a:tcPr/>
                </a:tc>
                <a:tc>
                  <a:txBody>
                    <a:bodyPr/>
                    <a:lstStyle/>
                    <a:p>
                      <a:pPr lvl="0" indent="0" marL="0" algn="l">
                        <a:buNone/>
                      </a:pPr>
                      <a:r>
                        <a:rPr/>
                        <a:t>특징</a:t>
                      </a:r>
                    </a:p>
                  </a:txBody>
                  <a:tcPr/>
                </a:tc>
              </a:tr>
              <a:tr h="0">
                <a:tc>
                  <a:txBody>
                    <a:bodyPr/>
                    <a:lstStyle/>
                    <a:p>
                      <a:pPr lvl="0" indent="0" marL="0" algn="l">
                        <a:buNone/>
                      </a:pPr>
                      <a:r>
                        <a:rPr/>
                        <a:t>07:00~08:00</a:t>
                      </a:r>
                    </a:p>
                  </a:txBody>
                </a:tc>
                <a:tc>
                  <a:txBody>
                    <a:bodyPr/>
                    <a:lstStyle/>
                    <a:p>
                      <a:pPr lvl="0" indent="0" marL="0" algn="l">
                        <a:buNone/>
                      </a:pPr>
                      <a:r>
                        <a:rPr/>
                        <a:t>호텔 픽업 및 이동</a:t>
                      </a:r>
                    </a:p>
                  </a:txBody>
                </a:tc>
                <a:tc>
                  <a:txBody>
                    <a:bodyPr/>
                    <a:lstStyle/>
                    <a:p>
                      <a:pPr lvl="0" indent="0" marL="0" algn="l">
                        <a:buNone/>
                      </a:pPr>
                      <a:r>
                        <a:rPr/>
                        <a:t>미니밴 조인 투어</a:t>
                      </a:r>
                    </a:p>
                  </a:txBody>
                </a:tc>
              </a:tr>
              <a:tr h="0">
                <a:tc>
                  <a:txBody>
                    <a:bodyPr/>
                    <a:lstStyle/>
                    <a:p>
                      <a:pPr lvl="0" indent="0" marL="0" algn="l">
                        <a:buNone/>
                      </a:pPr>
                      <a:r>
                        <a:rPr/>
                        <a:t>09:30~12:00</a:t>
                      </a:r>
                    </a:p>
                  </a:txBody>
                </a:tc>
                <a:tc>
                  <a:txBody>
                    <a:bodyPr/>
                    <a:lstStyle/>
                    <a:p>
                      <a:pPr lvl="0" indent="0" marL="0" algn="l">
                        <a:buNone/>
                      </a:pPr>
                      <a:r>
                        <a:rPr/>
                        <a:t>폭포 관광 및 트레킹</a:t>
                      </a:r>
                    </a:p>
                  </a:txBody>
                </a:tc>
                <a:tc>
                  <a:txBody>
                    <a:bodyPr/>
                    <a:lstStyle/>
                    <a:p>
                      <a:pPr lvl="0" indent="0" marL="0" algn="l">
                        <a:buNone/>
                      </a:pPr>
                      <a:r>
                        <a:rPr/>
                        <a:t>자연 보호 구역 걷기</a:t>
                      </a:r>
                    </a:p>
                  </a:txBody>
                </a:tc>
              </a:tr>
              <a:tr h="0">
                <a:tc>
                  <a:txBody>
                    <a:bodyPr/>
                    <a:lstStyle/>
                    <a:p>
                      <a:pPr lvl="0" indent="0" marL="0" algn="l">
                        <a:buNone/>
                      </a:pPr>
                      <a:r>
                        <a:rPr/>
                        <a:t>13:00~15:00</a:t>
                      </a:r>
                    </a:p>
                  </a:txBody>
                </a:tc>
                <a:tc>
                  <a:txBody>
                    <a:bodyPr/>
                    <a:lstStyle/>
                    <a:p>
                      <a:pPr lvl="0" indent="0" marL="0" algn="l">
                        <a:buNone/>
                      </a:pPr>
                      <a:r>
                        <a:rPr/>
                        <a:t>장수 기념탑 및 정상</a:t>
                      </a:r>
                    </a:p>
                  </a:txBody>
                </a:tc>
                <a:tc>
                  <a:txBody>
                    <a:bodyPr/>
                    <a:lstStyle/>
                    <a:p>
                      <a:pPr lvl="0" indent="0" marL="0" algn="l">
                        <a:buNone/>
                      </a:pPr>
                      <a:r>
                        <a:rPr/>
                        <a:t>기념 촬영 및 고산식물</a:t>
                      </a:r>
                    </a:p>
                  </a:txBody>
                </a:tc>
              </a:tr>
              <a:tr h="0">
                <a:tc>
                  <a:txBody>
                    <a:bodyPr/>
                    <a:lstStyle/>
                    <a:p>
                      <a:pPr lvl="0" indent="0" marL="0" algn="l">
                        <a:buNone/>
                      </a:pPr>
                      <a:r>
                        <a:rPr/>
                        <a:t>15:50~18:00</a:t>
                      </a:r>
                    </a:p>
                  </a:txBody>
                </a:tc>
                <a:tc>
                  <a:txBody>
                    <a:bodyPr/>
                    <a:lstStyle/>
                    <a:p>
                      <a:pPr lvl="0" indent="0" marL="0" algn="l">
                        <a:buNone/>
                      </a:pPr>
                      <a:r>
                        <a:rPr/>
                        <a:t>치앙마이 시내 복귀</a:t>
                      </a:r>
                    </a:p>
                  </a:txBody>
                </a:tc>
                <a:tc>
                  <a:txBody>
                    <a:bodyPr/>
                    <a:lstStyle/>
                    <a:p>
                      <a:pPr lvl="0" indent="0" marL="0" algn="l">
                        <a:buNone/>
                      </a:pPr>
                      <a:r>
                        <a:rPr/>
                        <a:t>교통 상황에 따라 변동</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야시장 가이드</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쇼핑과 길거리 음식의 천국</a:t>
            </a:r>
          </a:p>
        </p:txBody>
      </p:sp>
      <p:sp>
        <p:nvSpPr>
          <p:cNvPr id="4" name="Text Placeholder 3"/>
          <p:cNvSpPr>
            <a:spLocks noGrp="1"/>
          </p:cNvSpPr>
          <p:nvPr>
            <p:ph idx="2" sz="half" type="body"/>
          </p:nvPr>
        </p:nvSpPr>
        <p:spPr/>
        <p:txBody>
          <a:bodyPr/>
          <a:lstStyle/>
          <a:p>
            <a:pPr lvl="0"/>
            <a:r>
              <a:rPr/>
              <a:t>선데이 마켓은 일요일마다 열리는 최대 규모 야시장으로 기념품 쇼핑의 핵심임</a:t>
            </a:r>
          </a:p>
          <a:p>
            <a:pPr lvl="0"/>
            <a:r>
              <a:rPr/>
              <a:t>토요 마켓은 우아라이 로드에서 열리며 독특한 은 세공품과 공예품이 주를 이룸</a:t>
            </a:r>
          </a:p>
          <a:p>
            <a:pPr lvl="0"/>
            <a:r>
              <a:rPr/>
              <a:t>나이트 바자는 매일 운영되는 상설 시장으로 평일 저녁 활기찬 분위기를 즐기기 좋음</a:t>
            </a:r>
          </a:p>
          <a:p>
            <a:pPr lvl="0"/>
            <a:r>
              <a:rPr/>
              <a:t>치앙마이 대학교 야시장은 저렴한 가격으로 학생층 타겟의 의류와 소품을 판매함</a:t>
            </a:r>
          </a:p>
          <a:p>
            <a:pPr lvl="0"/>
            <a:r>
              <a:rPr/>
              <a:t>와로롯 마켓은 현지인 위주의 전통 시장으로 건과일과 향신료 등 식자재 구매에 최적임</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야시장명</a:t>
                      </a:r>
                    </a:p>
                  </a:txBody>
                  <a:tcPr/>
                </a:tc>
                <a:tc>
                  <a:txBody>
                    <a:bodyPr/>
                    <a:lstStyle/>
                    <a:p>
                      <a:pPr lvl="0" indent="0" marL="0" algn="ctr">
                        <a:buNone/>
                      </a:pPr>
                      <a:r>
                        <a:rPr/>
                        <a:t>운영 요일</a:t>
                      </a:r>
                    </a:p>
                  </a:txBody>
                  <a:tcPr/>
                </a:tc>
                <a:tc>
                  <a:txBody>
                    <a:bodyPr/>
                    <a:lstStyle/>
                    <a:p>
                      <a:pPr lvl="0" indent="0" marL="0" algn="l">
                        <a:buNone/>
                      </a:pPr>
                      <a:r>
                        <a:rPr/>
                        <a:t>주요 품목</a:t>
                      </a:r>
                    </a:p>
                  </a:txBody>
                  <a:tcPr/>
                </a:tc>
                <a:tc>
                  <a:txBody>
                    <a:bodyPr/>
                    <a:lstStyle/>
                    <a:p>
                      <a:pPr lvl="0" indent="0" marL="0" algn="l">
                        <a:buNone/>
                      </a:pPr>
                      <a:r>
                        <a:rPr/>
                        <a:t>추천 타겟</a:t>
                      </a:r>
                    </a:p>
                  </a:txBody>
                  <a:tcPr/>
                </a:tc>
              </a:tr>
              <a:tr h="0">
                <a:tc>
                  <a:txBody>
                    <a:bodyPr/>
                    <a:lstStyle/>
                    <a:p>
                      <a:pPr lvl="0" indent="0" marL="0" algn="l">
                        <a:buNone/>
                      </a:pPr>
                      <a:r>
                        <a:rPr/>
                        <a:t>선데이 마켓</a:t>
                      </a:r>
                    </a:p>
                  </a:txBody>
                </a:tc>
                <a:tc>
                  <a:txBody>
                    <a:bodyPr/>
                    <a:lstStyle/>
                    <a:p>
                      <a:pPr lvl="0" indent="0" marL="0" algn="ctr">
                        <a:buNone/>
                      </a:pPr>
                      <a:r>
                        <a:rPr/>
                        <a:t>일요일</a:t>
                      </a:r>
                    </a:p>
                  </a:txBody>
                </a:tc>
                <a:tc>
                  <a:txBody>
                    <a:bodyPr/>
                    <a:lstStyle/>
                    <a:p>
                      <a:pPr lvl="0" indent="0" marL="0" algn="l">
                        <a:buNone/>
                      </a:pPr>
                      <a:r>
                        <a:rPr/>
                        <a:t>수공예품, 먹거리</a:t>
                      </a:r>
                    </a:p>
                  </a:txBody>
                </a:tc>
                <a:tc>
                  <a:txBody>
                    <a:bodyPr/>
                    <a:lstStyle/>
                    <a:p>
                      <a:pPr lvl="0" indent="0" marL="0" algn="l">
                        <a:buNone/>
                      </a:pPr>
                      <a:r>
                        <a:rPr/>
                        <a:t>모든 여행자</a:t>
                      </a:r>
                    </a:p>
                  </a:txBody>
                </a:tc>
              </a:tr>
              <a:tr h="0">
                <a:tc>
                  <a:txBody>
                    <a:bodyPr/>
                    <a:lstStyle/>
                    <a:p>
                      <a:pPr lvl="0" indent="0" marL="0" algn="l">
                        <a:buNone/>
                      </a:pPr>
                      <a:r>
                        <a:rPr/>
                        <a:t>토요 마켓</a:t>
                      </a:r>
                    </a:p>
                  </a:txBody>
                </a:tc>
                <a:tc>
                  <a:txBody>
                    <a:bodyPr/>
                    <a:lstStyle/>
                    <a:p>
                      <a:pPr lvl="0" indent="0" marL="0" algn="ctr">
                        <a:buNone/>
                      </a:pPr>
                      <a:r>
                        <a:rPr/>
                        <a:t>토요일</a:t>
                      </a:r>
                    </a:p>
                  </a:txBody>
                </a:tc>
                <a:tc>
                  <a:txBody>
                    <a:bodyPr/>
                    <a:lstStyle/>
                    <a:p>
                      <a:pPr lvl="0" indent="0" marL="0" algn="l">
                        <a:buNone/>
                      </a:pPr>
                      <a:r>
                        <a:rPr/>
                        <a:t>은 제품, 예술품</a:t>
                      </a:r>
                    </a:p>
                  </a:txBody>
                </a:tc>
                <a:tc>
                  <a:txBody>
                    <a:bodyPr/>
                    <a:lstStyle/>
                    <a:p>
                      <a:pPr lvl="0" indent="0" marL="0" algn="l">
                        <a:buNone/>
                      </a:pPr>
                      <a:r>
                        <a:rPr/>
                        <a:t>수집가/로컬 선호</a:t>
                      </a:r>
                    </a:p>
                  </a:txBody>
                </a:tc>
              </a:tr>
              <a:tr h="0">
                <a:tc>
                  <a:txBody>
                    <a:bodyPr/>
                    <a:lstStyle/>
                    <a:p>
                      <a:pPr lvl="0" indent="0" marL="0" algn="l">
                        <a:buNone/>
                      </a:pPr>
                      <a:r>
                        <a:rPr/>
                        <a:t>나이트 바자</a:t>
                      </a:r>
                    </a:p>
                  </a:txBody>
                </a:tc>
                <a:tc>
                  <a:txBody>
                    <a:bodyPr/>
                    <a:lstStyle/>
                    <a:p>
                      <a:pPr lvl="0" indent="0" marL="0" algn="ctr">
                        <a:buNone/>
                      </a:pPr>
                      <a:r>
                        <a:rPr/>
                        <a:t>매일</a:t>
                      </a:r>
                    </a:p>
                  </a:txBody>
                </a:tc>
                <a:tc>
                  <a:txBody>
                    <a:bodyPr/>
                    <a:lstStyle/>
                    <a:p>
                      <a:pPr lvl="0" indent="0" marL="0" algn="l">
                        <a:buNone/>
                      </a:pPr>
                      <a:r>
                        <a:rPr/>
                        <a:t>의류, 기념품</a:t>
                      </a:r>
                    </a:p>
                  </a:txBody>
                </a:tc>
                <a:tc>
                  <a:txBody>
                    <a:bodyPr/>
                    <a:lstStyle/>
                    <a:p>
                      <a:pPr lvl="0" indent="0" marL="0" algn="l">
                        <a:buNone/>
                      </a:pPr>
                      <a:r>
                        <a:rPr/>
                        <a:t>평일 단기 관광객</a:t>
                      </a:r>
                    </a:p>
                  </a:txBody>
                </a:tc>
              </a:tr>
              <a:tr h="0">
                <a:tc>
                  <a:txBody>
                    <a:bodyPr/>
                    <a:lstStyle/>
                    <a:p>
                      <a:pPr lvl="0" indent="0" marL="0" algn="l">
                        <a:buNone/>
                      </a:pPr>
                      <a:r>
                        <a:rPr/>
                        <a:t>대학교 야시장</a:t>
                      </a:r>
                    </a:p>
                  </a:txBody>
                </a:tc>
                <a:tc>
                  <a:txBody>
                    <a:bodyPr/>
                    <a:lstStyle/>
                    <a:p>
                      <a:pPr lvl="0" indent="0" marL="0" algn="ctr">
                        <a:buNone/>
                      </a:pPr>
                      <a:r>
                        <a:rPr/>
                        <a:t>매일</a:t>
                      </a:r>
                    </a:p>
                  </a:txBody>
                </a:tc>
                <a:tc>
                  <a:txBody>
                    <a:bodyPr/>
                    <a:lstStyle/>
                    <a:p>
                      <a:pPr lvl="0" indent="0" marL="0" algn="l">
                        <a:buNone/>
                      </a:pPr>
                      <a:r>
                        <a:rPr/>
                        <a:t>트렌디 의류, IT소품</a:t>
                      </a:r>
                    </a:p>
                  </a:txBody>
                </a:tc>
                <a:tc>
                  <a:txBody>
                    <a:bodyPr/>
                    <a:lstStyle/>
                    <a:p>
                      <a:pPr lvl="0" indent="0" marL="0" algn="l">
                        <a:buNone/>
                      </a:pPr>
                      <a:r>
                        <a:rPr/>
                        <a:t>알뜰 쇼핑족</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미식 경험</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대표 요리와 로컬 식문화</a:t>
            </a:r>
          </a:p>
        </p:txBody>
      </p:sp>
      <p:sp>
        <p:nvSpPr>
          <p:cNvPr id="3" name="Content Placeholder 2"/>
          <p:cNvSpPr>
            <a:spLocks noGrp="1"/>
          </p:cNvSpPr>
          <p:nvPr>
            <p:ph idx="1"/>
          </p:nvPr>
        </p:nvSpPr>
        <p:spPr/>
        <p:txBody>
          <a:bodyPr/>
          <a:lstStyle/>
          <a:p>
            <a:pPr lvl="0"/>
            <a:r>
              <a:rPr/>
              <a:t>카오쏘이는 코코넛 카레 베이스의 북부 대표 국수로 튀긴 면의 바삭한 식감이 일품임</a:t>
            </a:r>
          </a:p>
          <a:p>
            <a:pPr lvl="0"/>
            <a:r>
              <a:rPr/>
              <a:t>팟타이는 새콤달콤한 소스와 숙주가 어우러진 태국의 국민 볶음 쌀국수 요리임</a:t>
            </a:r>
          </a:p>
          <a:p>
            <a:pPr lvl="0"/>
            <a:r>
              <a:rPr/>
              <a:t>똠얌꿍은 매콤하고 시큼한 맛이 특징인 세계적인 해산물 수프로 중독성이 강함</a:t>
            </a:r>
          </a:p>
          <a:p>
            <a:pPr lvl="0"/>
            <a:r>
              <a:rPr/>
              <a:t>망고 스티키 라이스는 달콤한 망고와 연유 뿌린 찰밥의 조화가 훌륭한 디저트임</a:t>
            </a:r>
          </a:p>
          <a:p>
            <a:pPr lvl="0"/>
            <a:r>
              <a:rPr/>
              <a:t>노천 식당이나 시장에서 저렴한 가격으로 고기 꼬치와 로띠 등 다채로운 간식을 즐김</a:t>
            </a:r>
          </a:p>
          <a:p>
            <a:pPr lvl="0" indent="0" marL="0">
              <a:buNone/>
            </a:pPr>
            <a:r>
              <a:rPr/>
              <a:t>[식재료] -&gt; [코코넛 밀크 &amp; 카레] -&gt; [카오쏘이 완성] [면요리 인기도] 카오쏘이: █████████ 팟타이: ████████ 똠얌꿍: █████</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미쉐린 맛집</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가성비 높은 미식 투어</a:t>
            </a:r>
          </a:p>
        </p:txBody>
      </p:sp>
      <p:sp>
        <p:nvSpPr>
          <p:cNvPr id="4" name="Text Placeholder 3"/>
          <p:cNvSpPr>
            <a:spLocks noGrp="1"/>
          </p:cNvSpPr>
          <p:nvPr>
            <p:ph idx="2" sz="half" type="body"/>
          </p:nvPr>
        </p:nvSpPr>
        <p:spPr/>
        <p:txBody>
          <a:bodyPr/>
          <a:lstStyle/>
          <a:p>
            <a:pPr lvl="0"/>
            <a:r>
              <a:rPr/>
              <a:t>카오쏘이 쿤 야이는 올드타운 내 위치한 유명 맛집으로 정오쯤 재료가 소진됨</a:t>
            </a:r>
          </a:p>
          <a:p>
            <a:pPr lvl="0"/>
            <a:r>
              <a:rPr/>
              <a:t>훠언 무안 짜이는 정통 북부 태국 음식을 선보이는 레스토랑으로 아늑한 분위기를 제공함</a:t>
            </a:r>
          </a:p>
          <a:p>
            <a:pPr lvl="0"/>
            <a:r>
              <a:rPr/>
              <a:t>키티 파닛은 130년 된 목조 저택을 개조한 공간에서 품격 있는 요리를 맛볼 수 있음</a:t>
            </a:r>
          </a:p>
          <a:p>
            <a:pPr lvl="0"/>
            <a:r>
              <a:rPr/>
              <a:t>진저 팜 키친은 농장에서 직송한 유기농 재료를 사용하여 건강한 태국식을 조리함</a:t>
            </a:r>
          </a:p>
          <a:p>
            <a:pPr lvl="0"/>
            <a:r>
              <a:rPr/>
              <a:t>퀴진 드 가든은 특별한 날을 위한 파인 다이닝으로 창의적인 코스 요리를 선보임</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식당명</a:t>
                      </a:r>
                    </a:p>
                  </a:txBody>
                  <a:tcPr/>
                </a:tc>
                <a:tc>
                  <a:txBody>
                    <a:bodyPr/>
                    <a:lstStyle/>
                    <a:p>
                      <a:pPr lvl="0" indent="0" marL="0" algn="l">
                        <a:buNone/>
                      </a:pPr>
                      <a:r>
                        <a:rPr/>
                        <a:t>주메뉴</a:t>
                      </a:r>
                    </a:p>
                  </a:txBody>
                  <a:tcPr/>
                </a:tc>
                <a:tc>
                  <a:txBody>
                    <a:bodyPr/>
                    <a:lstStyle/>
                    <a:p>
                      <a:pPr lvl="0" indent="0" marL="0" algn="ctr">
                        <a:buNone/>
                      </a:pPr>
                      <a:r>
                        <a:rPr/>
                        <a:t>예상 비용</a:t>
                      </a:r>
                    </a:p>
                  </a:txBody>
                  <a:tcPr/>
                </a:tc>
                <a:tc>
                  <a:txBody>
                    <a:bodyPr/>
                    <a:lstStyle/>
                    <a:p>
                      <a:pPr lvl="0" indent="0" marL="0" algn="l">
                        <a:buNone/>
                      </a:pPr>
                      <a:r>
                        <a:rPr/>
                        <a:t>비고</a:t>
                      </a:r>
                    </a:p>
                  </a:txBody>
                  <a:tcPr/>
                </a:tc>
              </a:tr>
              <a:tr h="0">
                <a:tc>
                  <a:txBody>
                    <a:bodyPr/>
                    <a:lstStyle/>
                    <a:p>
                      <a:pPr lvl="0" indent="0" marL="0" algn="l">
                        <a:buNone/>
                      </a:pPr>
                      <a:r>
                        <a:rPr/>
                        <a:t>카오쏘이 쿤 야이</a:t>
                      </a:r>
                    </a:p>
                  </a:txBody>
                </a:tc>
                <a:tc>
                  <a:txBody>
                    <a:bodyPr/>
                    <a:lstStyle/>
                    <a:p>
                      <a:pPr lvl="0" indent="0" marL="0" algn="l">
                        <a:buNone/>
                      </a:pPr>
                      <a:r>
                        <a:rPr/>
                        <a:t>카오쏘이</a:t>
                      </a:r>
                    </a:p>
                  </a:txBody>
                </a:tc>
                <a:tc>
                  <a:txBody>
                    <a:bodyPr/>
                    <a:lstStyle/>
                    <a:p>
                      <a:pPr lvl="0" indent="0" marL="0" algn="ctr">
                        <a:buNone/>
                      </a:pPr>
                      <a:r>
                        <a:rPr/>
                        <a:t>100바트</a:t>
                      </a:r>
                    </a:p>
                  </a:txBody>
                </a:tc>
                <a:tc>
                  <a:txBody>
                    <a:bodyPr/>
                    <a:lstStyle/>
                    <a:p>
                      <a:pPr lvl="0" indent="0" marL="0" algn="l">
                        <a:buNone/>
                      </a:pPr>
                      <a:r>
                        <a:rPr/>
                        <a:t>일요일 휴무</a:t>
                      </a:r>
                    </a:p>
                  </a:txBody>
                </a:tc>
              </a:tr>
              <a:tr h="0">
                <a:tc>
                  <a:txBody>
                    <a:bodyPr/>
                    <a:lstStyle/>
                    <a:p>
                      <a:pPr lvl="0" indent="0" marL="0" algn="l">
                        <a:buNone/>
                      </a:pPr>
                      <a:r>
                        <a:rPr/>
                        <a:t>훠언 무안 짜이</a:t>
                      </a:r>
                    </a:p>
                  </a:txBody>
                </a:tc>
                <a:tc>
                  <a:txBody>
                    <a:bodyPr/>
                    <a:lstStyle/>
                    <a:p>
                      <a:pPr lvl="0" indent="0" marL="0" algn="l">
                        <a:buNone/>
                      </a:pPr>
                      <a:r>
                        <a:rPr/>
                        <a:t>북부 정식</a:t>
                      </a:r>
                    </a:p>
                  </a:txBody>
                </a:tc>
                <a:tc>
                  <a:txBody>
                    <a:bodyPr/>
                    <a:lstStyle/>
                    <a:p>
                      <a:pPr lvl="0" indent="0" marL="0" algn="ctr">
                        <a:buNone/>
                      </a:pPr>
                      <a:r>
                        <a:rPr/>
                        <a:t>300바트</a:t>
                      </a:r>
                    </a:p>
                  </a:txBody>
                </a:tc>
                <a:tc>
                  <a:txBody>
                    <a:bodyPr/>
                    <a:lstStyle/>
                    <a:p>
                      <a:pPr lvl="0" indent="0" marL="0" algn="l">
                        <a:buNone/>
                      </a:pPr>
                      <a:r>
                        <a:rPr/>
                        <a:t>수요일 휴무</a:t>
                      </a:r>
                    </a:p>
                  </a:txBody>
                </a:tc>
              </a:tr>
              <a:tr h="0">
                <a:tc>
                  <a:txBody>
                    <a:bodyPr/>
                    <a:lstStyle/>
                    <a:p>
                      <a:pPr lvl="0" indent="0" marL="0" algn="l">
                        <a:buNone/>
                      </a:pPr>
                      <a:r>
                        <a:rPr/>
                        <a:t>진저 팜 키친</a:t>
                      </a:r>
                    </a:p>
                  </a:txBody>
                </a:tc>
                <a:tc>
                  <a:txBody>
                    <a:bodyPr/>
                    <a:lstStyle/>
                    <a:p>
                      <a:pPr lvl="0" indent="0" marL="0" algn="l">
                        <a:buNone/>
                      </a:pPr>
                      <a:r>
                        <a:rPr/>
                        <a:t>유기농 태국식</a:t>
                      </a:r>
                    </a:p>
                  </a:txBody>
                </a:tc>
                <a:tc>
                  <a:txBody>
                    <a:bodyPr/>
                    <a:lstStyle/>
                    <a:p>
                      <a:pPr lvl="0" indent="0" marL="0" algn="ctr">
                        <a:buNone/>
                      </a:pPr>
                      <a:r>
                        <a:rPr/>
                        <a:t>500바트</a:t>
                      </a:r>
                    </a:p>
                  </a:txBody>
                </a:tc>
                <a:tc>
                  <a:txBody>
                    <a:bodyPr/>
                    <a:lstStyle/>
                    <a:p>
                      <a:pPr lvl="0" indent="0" marL="0" algn="l">
                        <a:buNone/>
                      </a:pPr>
                      <a:r>
                        <a:rPr/>
                        <a:t>원 님만 위치</a:t>
                      </a:r>
                    </a:p>
                  </a:txBody>
                </a:tc>
              </a:tr>
              <a:tr h="0">
                <a:tc>
                  <a:txBody>
                    <a:bodyPr/>
                    <a:lstStyle/>
                    <a:p>
                      <a:pPr lvl="0" indent="0" marL="0" algn="l">
                        <a:buNone/>
                      </a:pPr>
                      <a:r>
                        <a:rPr/>
                        <a:t>퀴진 드 가든</a:t>
                      </a:r>
                    </a:p>
                  </a:txBody>
                </a:tc>
                <a:tc>
                  <a:txBody>
                    <a:bodyPr/>
                    <a:lstStyle/>
                    <a:p>
                      <a:pPr lvl="0" indent="0" marL="0" algn="l">
                        <a:buNone/>
                      </a:pPr>
                      <a:r>
                        <a:rPr/>
                        <a:t>컨템포러리</a:t>
                      </a:r>
                    </a:p>
                  </a:txBody>
                </a:tc>
                <a:tc>
                  <a:txBody>
                    <a:bodyPr/>
                    <a:lstStyle/>
                    <a:p>
                      <a:pPr lvl="0" indent="0" marL="0" algn="ctr">
                        <a:buNone/>
                      </a:pPr>
                      <a:r>
                        <a:rPr/>
                        <a:t>1,000바트</a:t>
                      </a:r>
                    </a:p>
                  </a:txBody>
                </a:tc>
                <a:tc>
                  <a:txBody>
                    <a:bodyPr/>
                    <a:lstStyle/>
                    <a:p>
                      <a:pPr lvl="0" indent="0" marL="0" algn="l">
                        <a:buNone/>
                      </a:pPr>
                      <a:r>
                        <a:rPr/>
                        <a:t>예약 권장</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디지털 노마드</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일과 휴식이 공존하는 환경</a:t>
            </a:r>
          </a:p>
        </p:txBody>
      </p:sp>
      <p:sp>
        <p:nvSpPr>
          <p:cNvPr id="3" name="Content Placeholder 2"/>
          <p:cNvSpPr>
            <a:spLocks noGrp="1"/>
          </p:cNvSpPr>
          <p:nvPr>
            <p:ph idx="1"/>
          </p:nvPr>
        </p:nvSpPr>
        <p:spPr/>
        <p:txBody>
          <a:bodyPr/>
          <a:lstStyle/>
          <a:p>
            <a:pPr lvl="0"/>
            <a:r>
              <a:rPr/>
              <a:t>빠른 와이파이와 안정적인 전력 공급 덕분에 노트북 하나로 업무가 가능한 도시임</a:t>
            </a:r>
          </a:p>
          <a:p>
            <a:pPr lvl="0"/>
            <a:r>
              <a:rPr/>
              <a:t>코워킹 스페이스인 펀스페이스는 빠른 인터넷과 미팅룸 등 업무 전문 시설을 갖춤</a:t>
            </a:r>
          </a:p>
          <a:p>
            <a:pPr lvl="0"/>
            <a:r>
              <a:rPr/>
              <a:t>님만해민의 카페들은 작업 중인 전 세계 노마드들로 가득해 상호 영감을 주고받음</a:t>
            </a:r>
          </a:p>
          <a:p>
            <a:pPr lvl="0"/>
            <a:r>
              <a:rPr/>
              <a:t>24시간 운영되는 스터디 카페나 마야 몰의 CAMP는 밤샘 작업이 필요한 이들에게 적합함</a:t>
            </a:r>
          </a:p>
          <a:p>
            <a:pPr lvl="0"/>
            <a:r>
              <a:rPr/>
              <a:t>자유로운 분위기의 카페와 업무 중심의 코워킹 스페이스를 취향껏 골라 이용함</a:t>
            </a:r>
          </a:p>
          <a:p>
            <a:pPr lvl="0" indent="0" marL="0">
              <a:buNone/>
            </a:pPr>
            <a:r>
              <a:rPr/>
              <a:t>[사례 요약: 디지털 노마드의 하루 일과] - 오전: 숙소 근처 요가 클래스 및 브런치 - 오후: 아카 아마 또는 옴브라 카페에서 4시간 집중 업무 - 저녁: 야시장 탐방 또는 재즈 바에서 리프레시 - 만족 요인: 낮은 물가와 일하기 좋은 인프라가 결합된 최고의 생산성</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작업용 카페 1</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집중하기 좋은 공간 추천</a:t>
            </a:r>
          </a:p>
        </p:txBody>
      </p:sp>
      <p:sp>
        <p:nvSpPr>
          <p:cNvPr id="4" name="Text Placeholder 3"/>
          <p:cNvSpPr>
            <a:spLocks noGrp="1"/>
          </p:cNvSpPr>
          <p:nvPr>
            <p:ph idx="2" sz="half" type="body"/>
          </p:nvPr>
        </p:nvSpPr>
        <p:spPr/>
        <p:txBody>
          <a:bodyPr/>
          <a:lstStyle/>
          <a:p>
            <a:pPr lvl="0"/>
            <a:r>
              <a:rPr/>
              <a:t>아카 아마 프라싱은 직접 재배한 공정무역 커피와 함께 2층의 넓은 작업 공간을 제공함</a:t>
            </a:r>
          </a:p>
          <a:p>
            <a:pPr lvl="0"/>
            <a:r>
              <a:rPr/>
              <a:t>옴브라 카페는 디지털 노마드들의 아지트로 실내외 좌석이 알차게 구분되어 있음</a:t>
            </a:r>
          </a:p>
          <a:p>
            <a:pPr lvl="0"/>
            <a:r>
              <a:rPr/>
              <a:t>카페 아르테는 동화 같은 분위기 속에서 조용히 책을 보거나 작업하기에 최적인 장소임</a:t>
            </a:r>
          </a:p>
          <a:p>
            <a:pPr lvl="0"/>
            <a:r>
              <a:rPr/>
              <a:t>더반 이터리 앤 디자인은 매일 밤 11시까지 운영되어 야간 업무 시 매우 유용함</a:t>
            </a:r>
          </a:p>
          <a:p>
            <a:pPr lvl="0"/>
            <a:r>
              <a:rPr/>
              <a:t>페이퍼 스푼은 자연에 둘러싸인 오두막 감성으로 창의적인 영감이 필요한 작업에 추천함</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카페명</a:t>
                      </a:r>
                    </a:p>
                  </a:txBody>
                  <a:tcPr/>
                </a:tc>
                <a:tc>
                  <a:txBody>
                    <a:bodyPr/>
                    <a:lstStyle/>
                    <a:p>
                      <a:pPr lvl="0" indent="0" marL="0" algn="l">
                        <a:buNone/>
                      </a:pPr>
                      <a:r>
                        <a:rPr/>
                        <a:t>위치</a:t>
                      </a:r>
                    </a:p>
                  </a:txBody>
                  <a:tcPr/>
                </a:tc>
                <a:tc>
                  <a:txBody>
                    <a:bodyPr/>
                    <a:lstStyle/>
                    <a:p>
                      <a:pPr lvl="0" indent="0" marL="0" algn="l">
                        <a:buNone/>
                      </a:pPr>
                      <a:r>
                        <a:rPr/>
                        <a:t>특징</a:t>
                      </a:r>
                    </a:p>
                  </a:txBody>
                  <a:tcPr/>
                </a:tc>
                <a:tc>
                  <a:txBody>
                    <a:bodyPr/>
                    <a:lstStyle/>
                    <a:p>
                      <a:pPr lvl="0" indent="0" marL="0" algn="l">
                        <a:buNone/>
                      </a:pPr>
                      <a:r>
                        <a:rPr/>
                        <a:t>추천 음료</a:t>
                      </a:r>
                    </a:p>
                  </a:txBody>
                  <a:tcPr/>
                </a:tc>
              </a:tr>
              <a:tr h="0">
                <a:tc>
                  <a:txBody>
                    <a:bodyPr/>
                    <a:lstStyle/>
                    <a:p>
                      <a:pPr lvl="0" indent="0" marL="0" algn="l">
                        <a:buNone/>
                      </a:pPr>
                      <a:r>
                        <a:rPr/>
                        <a:t>아카 아마</a:t>
                      </a:r>
                    </a:p>
                  </a:txBody>
                </a:tc>
                <a:tc>
                  <a:txBody>
                    <a:bodyPr/>
                    <a:lstStyle/>
                    <a:p>
                      <a:pPr lvl="0" indent="0" marL="0" algn="l">
                        <a:buNone/>
                      </a:pPr>
                      <a:r>
                        <a:rPr/>
                        <a:t>올드타운</a:t>
                      </a:r>
                    </a:p>
                  </a:txBody>
                </a:tc>
                <a:tc>
                  <a:txBody>
                    <a:bodyPr/>
                    <a:lstStyle/>
                    <a:p>
                      <a:pPr lvl="0" indent="0" marL="0" algn="l">
                        <a:buNone/>
                      </a:pPr>
                      <a:r>
                        <a:rPr/>
                        <a:t>힙한 분위기, 넓은 2층</a:t>
                      </a:r>
                    </a:p>
                  </a:txBody>
                </a:tc>
                <a:tc>
                  <a:txBody>
                    <a:bodyPr/>
                    <a:lstStyle/>
                    <a:p>
                      <a:pPr lvl="0" indent="0" marL="0" algn="l">
                        <a:buNone/>
                      </a:pPr>
                      <a:r>
                        <a:rPr/>
                        <a:t>더티 커피</a:t>
                      </a:r>
                    </a:p>
                  </a:txBody>
                </a:tc>
              </a:tr>
              <a:tr h="0">
                <a:tc>
                  <a:txBody>
                    <a:bodyPr/>
                    <a:lstStyle/>
                    <a:p>
                      <a:pPr lvl="0" indent="0" marL="0" algn="l">
                        <a:buNone/>
                      </a:pPr>
                      <a:r>
                        <a:rPr/>
                        <a:t>옴브라</a:t>
                      </a:r>
                    </a:p>
                  </a:txBody>
                </a:tc>
                <a:tc>
                  <a:txBody>
                    <a:bodyPr/>
                    <a:lstStyle/>
                    <a:p>
                      <a:pPr lvl="0" indent="0" marL="0" algn="l">
                        <a:buNone/>
                      </a:pPr>
                      <a:r>
                        <a:rPr/>
                        <a:t>싼티탐</a:t>
                      </a:r>
                    </a:p>
                  </a:txBody>
                </a:tc>
                <a:tc>
                  <a:txBody>
                    <a:bodyPr/>
                    <a:lstStyle/>
                    <a:p>
                      <a:pPr lvl="0" indent="0" marL="0" algn="l">
                        <a:buNone/>
                      </a:pPr>
                      <a:r>
                        <a:rPr/>
                        <a:t>노마드 아지트, 식사 가능</a:t>
                      </a:r>
                    </a:p>
                  </a:txBody>
                </a:tc>
                <a:tc>
                  <a:txBody>
                    <a:bodyPr/>
                    <a:lstStyle/>
                    <a:p>
                      <a:pPr lvl="0" indent="0" marL="0" algn="l">
                        <a:buNone/>
                      </a:pPr>
                      <a:r>
                        <a:rPr/>
                        <a:t>라떼</a:t>
                      </a:r>
                    </a:p>
                  </a:txBody>
                </a:tc>
              </a:tr>
              <a:tr h="0">
                <a:tc>
                  <a:txBody>
                    <a:bodyPr/>
                    <a:lstStyle/>
                    <a:p>
                      <a:pPr lvl="0" indent="0" marL="0" algn="l">
                        <a:buNone/>
                      </a:pPr>
                      <a:r>
                        <a:rPr/>
                        <a:t>카페 아르테</a:t>
                      </a:r>
                    </a:p>
                  </a:txBody>
                </a:tc>
                <a:tc>
                  <a:txBody>
                    <a:bodyPr/>
                    <a:lstStyle/>
                    <a:p>
                      <a:pPr lvl="0" indent="0" marL="0" algn="l">
                        <a:buNone/>
                      </a:pPr>
                      <a:r>
                        <a:rPr/>
                        <a:t>창푸악</a:t>
                      </a:r>
                    </a:p>
                  </a:txBody>
                </a:tc>
                <a:tc>
                  <a:txBody>
                    <a:bodyPr/>
                    <a:lstStyle/>
                    <a:p>
                      <a:pPr lvl="0" indent="0" marL="0" algn="l">
                        <a:buNone/>
                      </a:pPr>
                      <a:r>
                        <a:rPr/>
                        <a:t>유럽풍 가옥, 햇살 맛집</a:t>
                      </a:r>
                    </a:p>
                  </a:txBody>
                </a:tc>
                <a:tc>
                  <a:txBody>
                    <a:bodyPr/>
                    <a:lstStyle/>
                    <a:p>
                      <a:pPr lvl="0" indent="0" marL="0" algn="l">
                        <a:buNone/>
                      </a:pPr>
                      <a:r>
                        <a:rPr/>
                        <a:t>브런치 메뉴</a:t>
                      </a:r>
                    </a:p>
                  </a:txBody>
                </a:tc>
              </a:tr>
              <a:tr h="0">
                <a:tc>
                  <a:txBody>
                    <a:bodyPr/>
                    <a:lstStyle/>
                    <a:p>
                      <a:pPr lvl="0" indent="0" marL="0" algn="l">
                        <a:buNone/>
                      </a:pPr>
                      <a:r>
                        <a:rPr/>
                        <a:t>더반 이터리</a:t>
                      </a:r>
                    </a:p>
                  </a:txBody>
                </a:tc>
                <a:tc>
                  <a:txBody>
                    <a:bodyPr/>
                    <a:lstStyle/>
                    <a:p>
                      <a:pPr lvl="0" indent="0" marL="0" algn="l">
                        <a:buNone/>
                      </a:pPr>
                      <a:r>
                        <a:rPr/>
                        <a:t>치앙마이대</a:t>
                      </a:r>
                    </a:p>
                  </a:txBody>
                </a:tc>
                <a:tc>
                  <a:txBody>
                    <a:bodyPr/>
                    <a:lstStyle/>
                    <a:p>
                      <a:pPr lvl="0" indent="0" marL="0" algn="l">
                        <a:buNone/>
                      </a:pPr>
                      <a:r>
                        <a:rPr/>
                        <a:t>24시 가까운 운영, 조용함</a:t>
                      </a:r>
                    </a:p>
                  </a:txBody>
                </a:tc>
                <a:tc>
                  <a:txBody>
                    <a:bodyPr/>
                    <a:lstStyle/>
                    <a:p>
                      <a:pPr lvl="0" indent="0" marL="0" algn="l">
                        <a:buNone/>
                      </a:pPr>
                      <a:r>
                        <a:rPr/>
                        <a:t>코코넛 파이</a:t>
                      </a:r>
                    </a:p>
                  </a:txBody>
                </a:tc>
              </a:tr>
            </a:tbl>
          </a:graphicData>
        </a:graphic>
      </p:graphicFrame>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작업용 카페 2</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감성과 효율의 조화</a:t>
            </a:r>
          </a:p>
        </p:txBody>
      </p:sp>
      <p:sp>
        <p:nvSpPr>
          <p:cNvPr id="3" name="Content Placeholder 2"/>
          <p:cNvSpPr>
            <a:spLocks noGrp="1"/>
          </p:cNvSpPr>
          <p:nvPr>
            <p:ph idx="1"/>
          </p:nvPr>
        </p:nvSpPr>
        <p:spPr/>
        <p:txBody>
          <a:bodyPr/>
          <a:lstStyle/>
          <a:p>
            <a:pPr lvl="0"/>
            <a:r>
              <a:rPr/>
              <a:t>로스터리 플래그십은 오전의 시원한 바람을 맞으며 야외에서 세련되게 작업하기 좋음</a:t>
            </a:r>
          </a:p>
          <a:p>
            <a:pPr lvl="0"/>
            <a:r>
              <a:rPr/>
              <a:t>얼리 아울은 넓은 정원에서 캠핑 의자에 앉아 나무 그늘 아래 자유롭게 업무를 봄</a:t>
            </a:r>
          </a:p>
          <a:p>
            <a:pPr lvl="0"/>
            <a:r>
              <a:rPr/>
              <a:t>더 바리스트로 아시안은 일본 정원 풍경과 함께 시원한 에어컨 아래에서 집중 가능함</a:t>
            </a:r>
          </a:p>
          <a:p>
            <a:pPr lvl="0"/>
            <a:r>
              <a:rPr/>
              <a:t>온더브레드는 님만해민에서 요가 후 한적하게 아침 식사와 함께 글을 쓰기에 적합함</a:t>
            </a:r>
          </a:p>
          <a:p>
            <a:pPr lvl="0"/>
            <a:r>
              <a:rPr/>
              <a:t>펀 포레스트 카페는 거대한 나무들 사이에서 자연의 소리를 들으며 작업하는 특별한 경험임</a:t>
            </a:r>
          </a:p>
          <a:p>
            <a:pPr lvl="0" indent="0" marL="0">
              <a:buNone/>
            </a:pPr>
            <a:r>
              <a:rPr/>
              <a:t>[실무 예시: 카페 에티켓 및 이용 팁] - 상황: 카페 아르테에서 4시간째 업무 중 - 팁: 노트북 사용 시 1시간 이용 제한 규정을 사전에 확인하거나 추가 음료 주문 권장 - 필수품: 태국은 콘센트가 넉넉한 편이지만 멀티 어댑터와 보조 배터리 지참 추천</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체험 활동</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치앙마이만의 독특한 액티비티</a:t>
            </a:r>
          </a:p>
        </p:txBody>
      </p:sp>
      <p:sp>
        <p:nvSpPr>
          <p:cNvPr id="3" name="Content Placeholder 2"/>
          <p:cNvSpPr>
            <a:spLocks noGrp="1"/>
          </p:cNvSpPr>
          <p:nvPr>
            <p:ph idx="1"/>
          </p:nvPr>
        </p:nvSpPr>
        <p:spPr/>
        <p:txBody>
          <a:bodyPr/>
          <a:lstStyle/>
          <a:p>
            <a:pPr lvl="0"/>
            <a:r>
              <a:rPr/>
              <a:t>코끼리 보호소 투어는 목욕시키기와 먹이 주기 등 코끼리와의 교감에 집중함</a:t>
            </a:r>
          </a:p>
          <a:p>
            <a:pPr lvl="0"/>
            <a:r>
              <a:rPr/>
              <a:t>쿠킹 클래스를 통해 현지 시장에서 식재료를 장보고 직접 태국 요리 비법을 전수받음</a:t>
            </a:r>
          </a:p>
          <a:p>
            <a:pPr lvl="0"/>
            <a:r>
              <a:rPr/>
              <a:t>나이트 사파리는 트램을 타고 야행성 동물을 관찰하여 가족 단위 여행객에게 인기가 높음</a:t>
            </a:r>
          </a:p>
          <a:p>
            <a:pPr lvl="0"/>
            <a:r>
              <a:rPr/>
              <a:t>짚라인 체험은 울창한 열대 우림을 공중에서 가로지르는 짜릿한 모험을 선사함</a:t>
            </a:r>
          </a:p>
          <a:p>
            <a:pPr lvl="0"/>
            <a:r>
              <a:rPr/>
              <a:t>전통 마사지와 요가 수업은 여행의 피로를 풀고 몸과 마음을 정화하는 힐링 시간임</a:t>
            </a:r>
          </a:p>
          <a:p>
            <a:pPr lvl="0" indent="0" marL="0">
              <a:buNone/>
            </a:pPr>
            <a:r>
              <a:rPr/>
              <a:t>[사례 요약: 에코 투어 실천] - 활동: 코끼리 정글 보호구역 방문 - 특징: 타기(Riding) 대신 보호와 돌봄 중심의 프로그램 참여 - 결과: 환경과 동물을 존중하는 지속 가능한 여행 문화 확산 기여</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여행 코스</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3박 4일 및 5박 6일 제안</a:t>
            </a:r>
          </a:p>
        </p:txBody>
      </p:sp>
      <p:sp>
        <p:nvSpPr>
          <p:cNvPr id="4" name="Text Placeholder 3"/>
          <p:cNvSpPr>
            <a:spLocks noGrp="1"/>
          </p:cNvSpPr>
          <p:nvPr>
            <p:ph idx="2" sz="half" type="body"/>
          </p:nvPr>
        </p:nvSpPr>
        <p:spPr/>
        <p:txBody>
          <a:bodyPr/>
          <a:lstStyle/>
          <a:p>
            <a:pPr lvl="0"/>
            <a:r>
              <a:rPr/>
              <a:t>1일차는 올드타운의 사원과 나이트 바자를 둘러보며 도시의 첫인상을 익힘</a:t>
            </a:r>
          </a:p>
          <a:p>
            <a:pPr lvl="0"/>
            <a:r>
              <a:rPr/>
              <a:t>2일차는 도이수텝의 전망과 님만해민의 트렌디한 쇼핑몰 및 카페를 탐방함</a:t>
            </a:r>
          </a:p>
          <a:p>
            <a:pPr lvl="0"/>
            <a:r>
              <a:rPr/>
              <a:t>3일차는 코끼리 보호소나 도이 인타논 투어를 통해 치앙마이의 자연에 깊이 빠짐</a:t>
            </a:r>
          </a:p>
          <a:p>
            <a:pPr lvl="0"/>
            <a:r>
              <a:rPr/>
              <a:t>4일차는 쿠킹 클래스 참여 후 와로롯 마켓에서 기념품 쇼핑을 하며 일정을 마무리함</a:t>
            </a:r>
          </a:p>
          <a:p>
            <a:pPr lvl="0"/>
            <a:r>
              <a:rPr/>
              <a:t>5~6일차 여유가 있다면 근교인 빠이나 치앙라이로 이동하여 더 깊은 태국 북부를 만남</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일차</a:t>
                      </a:r>
                    </a:p>
                  </a:txBody>
                  <a:tcPr/>
                </a:tc>
                <a:tc>
                  <a:txBody>
                    <a:bodyPr/>
                    <a:lstStyle/>
                    <a:p>
                      <a:pPr lvl="0" indent="0" marL="0" algn="l">
                        <a:buNone/>
                      </a:pPr>
                      <a:r>
                        <a:rPr/>
                        <a:t>주요 일정</a:t>
                      </a:r>
                    </a:p>
                  </a:txBody>
                  <a:tcPr/>
                </a:tc>
                <a:tc>
                  <a:txBody>
                    <a:bodyPr/>
                    <a:lstStyle/>
                    <a:p>
                      <a:pPr lvl="0" indent="0" marL="0" algn="l">
                        <a:buNone/>
                      </a:pPr>
                      <a:r>
                        <a:rPr/>
                        <a:t>추천 명소</a:t>
                      </a:r>
                    </a:p>
                  </a:txBody>
                  <a:tcPr/>
                </a:tc>
                <a:tc>
                  <a:txBody>
                    <a:bodyPr/>
                    <a:lstStyle/>
                    <a:p>
                      <a:pPr lvl="0" indent="0" marL="0" algn="l">
                        <a:buNone/>
                      </a:pPr>
                      <a:r>
                        <a:rPr/>
                        <a:t>비고</a:t>
                      </a:r>
                    </a:p>
                  </a:txBody>
                  <a:tcPr/>
                </a:tc>
              </a:tr>
              <a:tr h="0">
                <a:tc>
                  <a:txBody>
                    <a:bodyPr/>
                    <a:lstStyle/>
                    <a:p>
                      <a:pPr lvl="0" indent="0" marL="0" algn="l">
                        <a:buNone/>
                      </a:pPr>
                      <a:r>
                        <a:rPr/>
                        <a:t>1일차</a:t>
                      </a:r>
                    </a:p>
                  </a:txBody>
                </a:tc>
                <a:tc>
                  <a:txBody>
                    <a:bodyPr/>
                    <a:lstStyle/>
                    <a:p>
                      <a:pPr lvl="0" indent="0" marL="0" algn="l">
                        <a:buNone/>
                      </a:pPr>
                      <a:r>
                        <a:rPr/>
                        <a:t>역사 입문</a:t>
                      </a:r>
                    </a:p>
                  </a:txBody>
                </a:tc>
                <a:tc>
                  <a:txBody>
                    <a:bodyPr/>
                    <a:lstStyle/>
                    <a:p>
                      <a:pPr lvl="0" indent="0" marL="0" algn="l">
                        <a:buNone/>
                      </a:pPr>
                      <a:r>
                        <a:rPr/>
                        <a:t>왓 체디 루앙, 타패 게이트</a:t>
                      </a:r>
                    </a:p>
                  </a:txBody>
                </a:tc>
                <a:tc>
                  <a:txBody>
                    <a:bodyPr/>
                    <a:lstStyle/>
                    <a:p>
                      <a:pPr lvl="0" indent="0" marL="0" algn="l">
                        <a:buNone/>
                      </a:pPr>
                      <a:r>
                        <a:rPr/>
                        <a:t>도보 여행 추천</a:t>
                      </a:r>
                    </a:p>
                  </a:txBody>
                </a:tc>
              </a:tr>
              <a:tr h="0">
                <a:tc>
                  <a:txBody>
                    <a:bodyPr/>
                    <a:lstStyle/>
                    <a:p>
                      <a:pPr lvl="0" indent="0" marL="0" algn="l">
                        <a:buNone/>
                      </a:pPr>
                      <a:r>
                        <a:rPr/>
                        <a:t>2일차</a:t>
                      </a:r>
                    </a:p>
                  </a:txBody>
                </a:tc>
                <a:tc>
                  <a:txBody>
                    <a:bodyPr/>
                    <a:lstStyle/>
                    <a:p>
                      <a:pPr lvl="0" indent="0" marL="0" algn="l">
                        <a:buNone/>
                      </a:pPr>
                      <a:r>
                        <a:rPr/>
                        <a:t>전망/현대</a:t>
                      </a:r>
                    </a:p>
                  </a:txBody>
                </a:tc>
                <a:tc>
                  <a:txBody>
                    <a:bodyPr/>
                    <a:lstStyle/>
                    <a:p>
                      <a:pPr lvl="0" indent="0" marL="0" algn="l">
                        <a:buNone/>
                      </a:pPr>
                      <a:r>
                        <a:rPr/>
                        <a:t>도이수텝, 님만해민 마야 몰</a:t>
                      </a:r>
                    </a:p>
                  </a:txBody>
                </a:tc>
                <a:tc>
                  <a:txBody>
                    <a:bodyPr/>
                    <a:lstStyle/>
                    <a:p>
                      <a:pPr lvl="0" indent="0" marL="0" algn="l">
                        <a:buNone/>
                      </a:pPr>
                      <a:r>
                        <a:rPr/>
                        <a:t>일몰 감상 필수</a:t>
                      </a:r>
                    </a:p>
                  </a:txBody>
                </a:tc>
              </a:tr>
              <a:tr h="0">
                <a:tc>
                  <a:txBody>
                    <a:bodyPr/>
                    <a:lstStyle/>
                    <a:p>
                      <a:pPr lvl="0" indent="0" marL="0" algn="l">
                        <a:buNone/>
                      </a:pPr>
                      <a:r>
                        <a:rPr/>
                        <a:t>3일차</a:t>
                      </a:r>
                    </a:p>
                  </a:txBody>
                </a:tc>
                <a:tc>
                  <a:txBody>
                    <a:bodyPr/>
                    <a:lstStyle/>
                    <a:p>
                      <a:pPr lvl="0" indent="0" marL="0" algn="l">
                        <a:buNone/>
                      </a:pPr>
                      <a:r>
                        <a:rPr/>
                        <a:t>자연/체험</a:t>
                      </a:r>
                    </a:p>
                  </a:txBody>
                </a:tc>
                <a:tc>
                  <a:txBody>
                    <a:bodyPr/>
                    <a:lstStyle/>
                    <a:p>
                      <a:pPr lvl="0" indent="0" marL="0" algn="l">
                        <a:buNone/>
                      </a:pPr>
                      <a:r>
                        <a:rPr/>
                        <a:t>도이 인타논 또는 코끼리 보호소</a:t>
                      </a:r>
                    </a:p>
                  </a:txBody>
                </a:tc>
                <a:tc>
                  <a:txBody>
                    <a:bodyPr/>
                    <a:lstStyle/>
                    <a:p>
                      <a:pPr lvl="0" indent="0" marL="0" algn="l">
                        <a:buNone/>
                      </a:pPr>
                      <a:r>
                        <a:rPr/>
                        <a:t>전일 투어 활용</a:t>
                      </a:r>
                    </a:p>
                  </a:txBody>
                </a:tc>
              </a:tr>
              <a:tr h="0">
                <a:tc>
                  <a:txBody>
                    <a:bodyPr/>
                    <a:lstStyle/>
                    <a:p>
                      <a:pPr lvl="0" indent="0" marL="0" algn="l">
                        <a:buNone/>
                      </a:pPr>
                      <a:r>
                        <a:rPr/>
                        <a:t>4일차</a:t>
                      </a:r>
                    </a:p>
                  </a:txBody>
                </a:tc>
                <a:tc>
                  <a:txBody>
                    <a:bodyPr/>
                    <a:lstStyle/>
                    <a:p>
                      <a:pPr lvl="0" indent="0" marL="0" algn="l">
                        <a:buNone/>
                      </a:pPr>
                      <a:r>
                        <a:rPr/>
                        <a:t>문화/쇼핑</a:t>
                      </a:r>
                    </a:p>
                  </a:txBody>
                </a:tc>
                <a:tc>
                  <a:txBody>
                    <a:bodyPr/>
                    <a:lstStyle/>
                    <a:p>
                      <a:pPr lvl="0" indent="0" marL="0" algn="l">
                        <a:buNone/>
                      </a:pPr>
                      <a:r>
                        <a:rPr/>
                        <a:t>쿠킹 클래스, 와로롯 마켓</a:t>
                      </a:r>
                    </a:p>
                  </a:txBody>
                </a:tc>
                <a:tc>
                  <a:txBody>
                    <a:bodyPr/>
                    <a:lstStyle/>
                    <a:p>
                      <a:pPr lvl="0" indent="0" marL="0" algn="l">
                        <a:buNone/>
                      </a:pPr>
                      <a:r>
                        <a:rPr/>
                        <a:t>오후 공항 이동</a:t>
                      </a:r>
                    </a:p>
                  </a:txBody>
                </a:tc>
              </a:tr>
            </a:tbl>
          </a:graphicData>
        </a:graphic>
      </p:graphicFrame>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안전과 예절</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원활한 여행을 위한 지침</a:t>
            </a:r>
          </a:p>
        </p:txBody>
      </p:sp>
      <p:sp>
        <p:nvSpPr>
          <p:cNvPr id="4" name="Text Placeholder 3"/>
          <p:cNvSpPr>
            <a:spLocks noGrp="1"/>
          </p:cNvSpPr>
          <p:nvPr>
            <p:ph idx="2" sz="half" type="body"/>
          </p:nvPr>
        </p:nvSpPr>
        <p:spPr/>
        <p:txBody>
          <a:bodyPr/>
          <a:lstStyle/>
          <a:p>
            <a:pPr lvl="0"/>
            <a:r>
              <a:rPr/>
              <a:t>국왕과 왕실에 대한 불경한 언행은 엄격히 금지되며 항상 존경의 마음을 표현해야 함</a:t>
            </a:r>
          </a:p>
          <a:p>
            <a:pPr lvl="0"/>
            <a:r>
              <a:rPr/>
              <a:t>사원 내 불상 앞에서 무례한 사진 촬영을 삼가고 복장 규정을 철저히 지킴</a:t>
            </a:r>
          </a:p>
          <a:p>
            <a:pPr lvl="0"/>
            <a:r>
              <a:rPr/>
              <a:t>수돗물은 직접 마시지 말고 편의점에서 판매하는 밀봉된 생수만 섭취해야 함</a:t>
            </a:r>
          </a:p>
          <a:p>
            <a:pPr lvl="0"/>
            <a:r>
              <a:rPr/>
              <a:t>오토바이나 뚝뚝 이용 시 반드시 헬멧을 착용하고 소지품 도난에 항상 유의함</a:t>
            </a:r>
          </a:p>
          <a:p>
            <a:pPr lvl="0"/>
            <a:r>
              <a:rPr/>
              <a:t>‘사와디 크랍/카’와 ’콥쿤 크랍/카’ 등 기본 인사를 사용하여 현지인과 소통함</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유의 사항</a:t>
                      </a:r>
                    </a:p>
                  </a:txBody>
                  <a:tcPr/>
                </a:tc>
                <a:tc>
                  <a:txBody>
                    <a:bodyPr/>
                    <a:lstStyle/>
                    <a:p>
                      <a:pPr lvl="0" indent="0" marL="0" algn="l">
                        <a:buNone/>
                      </a:pPr>
                      <a:r>
                        <a:rPr/>
                        <a:t>대비책</a:t>
                      </a:r>
                    </a:p>
                  </a:txBody>
                  <a:tcPr/>
                </a:tc>
                <a:tc>
                  <a:txBody>
                    <a:bodyPr/>
                    <a:lstStyle/>
                    <a:p>
                      <a:pPr lvl="0" indent="0" marL="0" algn="l">
                        <a:buNone/>
                      </a:pPr>
                      <a:r>
                        <a:rPr/>
                        <a:t>해결책</a:t>
                      </a:r>
                    </a:p>
                  </a:txBody>
                  <a:tcPr/>
                </a:tc>
              </a:tr>
              <a:tr h="0">
                <a:tc>
                  <a:txBody>
                    <a:bodyPr/>
                    <a:lstStyle/>
                    <a:p>
                      <a:pPr lvl="0" indent="0" marL="0" algn="l">
                        <a:buNone/>
                      </a:pPr>
                      <a:r>
                        <a:rPr/>
                        <a:t>위생 관리</a:t>
                      </a:r>
                    </a:p>
                  </a:txBody>
                </a:tc>
                <a:tc>
                  <a:txBody>
                    <a:bodyPr/>
                    <a:lstStyle/>
                    <a:p>
                      <a:pPr lvl="0" indent="0" marL="0" algn="l">
                        <a:buNone/>
                      </a:pPr>
                      <a:r>
                        <a:rPr/>
                        <a:t>생수 구매, 손 소독제 지참</a:t>
                      </a:r>
                    </a:p>
                  </a:txBody>
                </a:tc>
                <a:tc>
                  <a:txBody>
                    <a:bodyPr/>
                    <a:lstStyle/>
                    <a:p>
                      <a:pPr lvl="0" indent="0" marL="0" algn="l">
                        <a:buNone/>
                      </a:pPr>
                      <a:r>
                        <a:rPr/>
                        <a:t>증상 시 즉시 병원 방문</a:t>
                      </a:r>
                    </a:p>
                  </a:txBody>
                </a:tc>
              </a:tr>
              <a:tr h="0">
                <a:tc>
                  <a:txBody>
                    <a:bodyPr/>
                    <a:lstStyle/>
                    <a:p>
                      <a:pPr lvl="0" indent="0" marL="0" algn="l">
                        <a:buNone/>
                      </a:pPr>
                      <a:r>
                        <a:rPr/>
                        <a:t>교통 안전</a:t>
                      </a:r>
                    </a:p>
                  </a:txBody>
                </a:tc>
                <a:tc>
                  <a:txBody>
                    <a:bodyPr/>
                    <a:lstStyle/>
                    <a:p>
                      <a:pPr lvl="0" indent="0" marL="0" algn="l">
                        <a:buNone/>
                      </a:pPr>
                      <a:r>
                        <a:rPr/>
                        <a:t>그랩 이용, 헬멧 필수</a:t>
                      </a:r>
                    </a:p>
                  </a:txBody>
                </a:tc>
                <a:tc>
                  <a:txBody>
                    <a:bodyPr/>
                    <a:lstStyle/>
                    <a:p>
                      <a:pPr lvl="0" indent="0" marL="0" algn="l">
                        <a:buNone/>
                      </a:pPr>
                      <a:r>
                        <a:rPr/>
                        <a:t>사고 시 관광 경찰 신고</a:t>
                      </a:r>
                    </a:p>
                  </a:txBody>
                </a:tc>
              </a:tr>
              <a:tr h="0">
                <a:tc>
                  <a:txBody>
                    <a:bodyPr/>
                    <a:lstStyle/>
                    <a:p>
                      <a:pPr lvl="0" indent="0" marL="0" algn="l">
                        <a:buNone/>
                      </a:pPr>
                      <a:r>
                        <a:rPr/>
                        <a:t>문화 존중</a:t>
                      </a:r>
                    </a:p>
                  </a:txBody>
                </a:tc>
                <a:tc>
                  <a:txBody>
                    <a:bodyPr/>
                    <a:lstStyle/>
                    <a:p>
                      <a:pPr lvl="0" indent="0" marL="0" algn="l">
                        <a:buNone/>
                      </a:pPr>
                      <a:r>
                        <a:rPr/>
                        <a:t>사원 복장(가운 대여)</a:t>
                      </a:r>
                    </a:p>
                  </a:txBody>
                </a:tc>
                <a:tc>
                  <a:txBody>
                    <a:bodyPr/>
                    <a:lstStyle/>
                    <a:p>
                      <a:pPr lvl="0" indent="0" marL="0" algn="l">
                        <a:buNone/>
                      </a:pPr>
                      <a:r>
                        <a:rPr/>
                        <a:t>실수 시 정중히 사과</a:t>
                      </a:r>
                    </a:p>
                  </a:txBody>
                </a:tc>
              </a:tr>
              <a:tr h="0">
                <a:tc>
                  <a:txBody>
                    <a:bodyPr/>
                    <a:lstStyle/>
                    <a:p>
                      <a:pPr lvl="0" indent="0" marL="0" algn="l">
                        <a:buNone/>
                      </a:pPr>
                      <a:r>
                        <a:rPr/>
                        <a:t>기후 대응</a:t>
                      </a:r>
                    </a:p>
                  </a:txBody>
                </a:tc>
                <a:tc>
                  <a:txBody>
                    <a:bodyPr/>
                    <a:lstStyle/>
                    <a:p>
                      <a:pPr lvl="0" indent="0" marL="0" algn="l">
                        <a:buNone/>
                      </a:pPr>
                      <a:r>
                        <a:rPr/>
                        <a:t>자외선 차단제, 우산 준비</a:t>
                      </a:r>
                    </a:p>
                  </a:txBody>
                </a:tc>
                <a:tc>
                  <a:txBody>
                    <a:bodyPr/>
                    <a:lstStyle/>
                    <a:p>
                      <a:pPr lvl="0" indent="0" marL="0" algn="l">
                        <a:buNone/>
                      </a:pPr>
                      <a:r>
                        <a:rPr/>
                        <a:t>탈수 시 충분한 휴식</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2025-12-24T06:31:56Z</dcterms:created>
  <dcterms:modified xsi:type="dcterms:W3CDTF">2025-12-24T06:31:56Z</dcterms:modified>
</cp:coreProperties>
</file>

<file path=docProps/custom.xml><?xml version="1.0" encoding="utf-8"?>
<Properties xmlns="http://schemas.openxmlformats.org/officeDocument/2006/custom-properties" xmlns:vt="http://schemas.openxmlformats.org/officeDocument/2006/docPropsVTypes"/>
</file>